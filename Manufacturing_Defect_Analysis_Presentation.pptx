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2105a58-7056-fc5a-1645-042614e8fbde}">
          <p14:sldIdLst>
            <p14:sldId id="256"/>
            <p14:sldId id="257"/>
            <p14:sldId id="258"/>
          </p14:sldIdLst>
        </p14:section>
        <p14:section name="The Report" id="{a166fd01-ffce-3573-bef9-8bc817d4d419}">
          <p14:sldIdLst>
            <p14:sldId id="259"/>
            <p14:sldId id="260"/>
            <p14:sldId id="261"/>
            <p14:sldId id="262"/>
          </p14:sldIdLst>
        </p14:section>
        <p14:section name="Wrap-up" id="{b25c3c0a-d378-80ad-e360-959f87afe7b1}">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name your trainer Mr. Dinesh Chilka, and say this presentation walks through the Manufacturing Defect Analysis Dashboard built in Power BI. The shapes on the right are the real layout of the report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defect tracking matters in manufacturing, then introduce the three building blocks: the objective, the dataset and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fields come from one table, defects_data, so every chart and card is filtered by the same two slicers. Note that defect_id is summed to get Total Defects; we come back to this in the improvements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report fits on one page. Cards sit at the top, the bar and pie charts in the middle, the donut and column charts at the bottom, and the two slicers at the top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two KPI cards. Then show a slicer live. Note that the saved report opens with Critical severity and Component location selected, so clear both slicers to see all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charts answer how serious the defects are and what kinds of defects we see. Use the severity slicer to show how the pie chart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chart tells us where on the product defects cluster. The donut chart tells us which inspection method is finding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slicers live here: pick a severity or location and show how every visual changes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point is the most important: summing defect_id only works as a count if the IDs happen to be 1 each. A Count of defect_id is the reliable measure. The other two are optional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trainer, Mr. Dinesh Chilka,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41280" y="45720"/>
            <a:ext cx="1828800" cy="1224382"/>
          </a:xfrm>
          <a:prstGeom prst="rect">
            <a:avLst/>
          </a:prstGeom>
        </p:spPr>
      </p:pic>
      <p:sp>
        <p:nvSpPr>
          <p:cNvPr id="3" name="Text 0"/>
          <p:cNvSpPr/>
          <p:nvPr>
            <p:ph idx="101" type="body" hasCustomPrompt="1"/>
          </p:nvPr>
        </p:nvSpPr>
        <p:spPr>
          <a:xfrm>
            <a:off x="548640" y="457200"/>
            <a:ext cx="5486400" cy="274320"/>
          </a:xfrm>
          <a:prstGeom prst="rect">
            <a:avLst/>
          </a:prstGeom>
          <a:noFill/>
          <a:ln/>
        </p:spPr>
        <p:txBody>
          <a:bodyPr wrap="square" rtlCol="0"/>
          <a:lstStyle>
            <a:lvl1pPr indent="0" marL="0">
              <a:buNone/>
              <a:defRPr lang="en-US" sz="1100" b="1" spc="200" kern="0" dirty="0">
                <a:solidFill>
                  <a:schemeClr val="accent2"/>
                </a:solidFill>
              </a:defRPr>
            </a:lvl1pPr>
          </a:lstStyle>
          <a:p>
            <a:pPr indent="0" marL="0">
              <a:buNone/>
            </a:pPr>
            <a:endParaRPr lang="en-US" sz="1100" dirty="0"/>
          </a:p>
        </p:txBody>
      </p:sp>
      <p:sp>
        <p:nvSpPr>
          <p:cNvPr id="4" name="Text 0"/>
          <p:cNvSpPr/>
          <p:nvPr>
            <p:ph idx="102" type="title" hasCustomPrompt="1"/>
          </p:nvPr>
        </p:nvSpPr>
        <p:spPr>
          <a:xfrm>
            <a:off x="731520" y="2148840"/>
            <a:ext cx="6035040" cy="173736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4F1"/>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41280" y="45720"/>
            <a:ext cx="1828800" cy="1224382"/>
          </a:xfrm>
          <a:prstGeom prst="rect">
            <a:avLst/>
          </a:prstGeom>
        </p:spPr>
      </p:pic>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Manufacturing Defect Analysis Dashboard · Astala Kumari Nayak</a:t>
            </a:r>
            <a:endParaRPr lang="en-US" sz="1000" dirty="0"/>
          </a:p>
        </p:txBody>
      </p:sp>
      <p:sp>
        <p:nvSpPr>
          <p:cNvPr id="4" name="Text 1"/>
          <p:cNvSpPr/>
          <p:nvPr>
            <p:ph idx="102" type="body" hasCustomPrompt="1"/>
          </p:nvPr>
        </p:nvSpPr>
        <p:spPr>
          <a:xfrm>
            <a:off x="548640" y="457200"/>
            <a:ext cx="5486400" cy="274320"/>
          </a:xfrm>
          <a:prstGeom prst="rect">
            <a:avLst/>
          </a:prstGeom>
          <a:noFill/>
          <a:ln/>
        </p:spPr>
        <p:txBody>
          <a:bodyPr wrap="square" rtlCol="0"/>
          <a:lstStyle>
            <a:lvl1pPr indent="0" marL="0">
              <a:buNone/>
              <a:defRPr lang="en-US" sz="1100" b="1" spc="200" kern="0" dirty="0">
                <a:solidFill>
                  <a:schemeClr val="accent2"/>
                </a:solidFill>
              </a:defRPr>
            </a:lvl1pPr>
          </a:lstStyle>
          <a:p>
            <a:pPr indent="0" marL="0">
              <a:buNone/>
            </a:pPr>
            <a:endParaRPr lang="en-US" sz="1100" dirty="0"/>
          </a:p>
        </p:txBody>
      </p:sp>
      <p:sp>
        <p:nvSpPr>
          <p:cNvPr id="5" name="Text 1"/>
          <p:cNvSpPr/>
          <p:nvPr>
            <p:ph idx="103" type="title" hasCustomPrompt="1"/>
          </p:nvPr>
        </p:nvSpPr>
        <p:spPr>
          <a:xfrm>
            <a:off x="548640" y="777240"/>
            <a:ext cx="950976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E1A77"/>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41280" y="45720"/>
            <a:ext cx="1828800" cy="1224382"/>
          </a:xfrm>
          <a:prstGeom prst="rect">
            <a:avLst/>
          </a:prstGeom>
        </p:spPr>
      </p:pic>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Manufacturing Defect Analysis Dashboard · Astala Kumari Nayak</a:t>
            </a:r>
            <a:endParaRPr lang="en-US" sz="1000" dirty="0"/>
          </a:p>
        </p:txBody>
      </p:sp>
      <p:sp>
        <p:nvSpPr>
          <p:cNvPr id="4" name="Text 1"/>
          <p:cNvSpPr/>
          <p:nvPr>
            <p:ph idx="102" type="body" hasCustomPrompt="1"/>
          </p:nvPr>
        </p:nvSpPr>
        <p:spPr>
          <a:xfrm>
            <a:off x="548640" y="457200"/>
            <a:ext cx="5486400" cy="274320"/>
          </a:xfrm>
          <a:prstGeom prst="rect">
            <a:avLst/>
          </a:prstGeom>
          <a:noFill/>
          <a:ln/>
        </p:spPr>
        <p:txBody>
          <a:bodyPr wrap="square" rtlCol="0"/>
          <a:lstStyle>
            <a:lvl1pPr indent="0" marL="0">
              <a:buNone/>
              <a:defRPr lang="en-US" sz="1100" b="1" spc="200" kern="0" dirty="0">
                <a:solidFill>
                  <a:schemeClr val="accent5"/>
                </a:solidFill>
              </a:defRPr>
            </a:lvl1pPr>
          </a:lstStyle>
          <a:p>
            <a:pPr indent="0" marL="0">
              <a:buNone/>
            </a:pPr>
            <a:endParaRPr lang="en-US" sz="1100" dirty="0"/>
          </a:p>
        </p:txBody>
      </p:sp>
      <p:sp>
        <p:nvSpPr>
          <p:cNvPr id="5" name="Text 1"/>
          <p:cNvSpPr/>
          <p:nvPr>
            <p:ph idx="103" type="title" hasCustomPrompt="1"/>
          </p:nvPr>
        </p:nvSpPr>
        <p:spPr>
          <a:xfrm>
            <a:off x="548640" y="777240"/>
            <a:ext cx="950976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_SLIDE">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41280" y="45720"/>
            <a:ext cx="1828800" cy="1224382"/>
          </a:xfrm>
          <a:prstGeom prst="rect">
            <a:avLst/>
          </a:prstGeom>
        </p:spPr>
      </p:pic>
      <p:sp>
        <p:nvSpPr>
          <p:cNvPr id="3" name="Text 0"/>
          <p:cNvSpPr/>
          <p:nvPr>
            <p:ph idx="101" type="title" hasCustomPrompt="1"/>
          </p:nvPr>
        </p:nvSpPr>
        <p:spPr>
          <a:xfrm>
            <a:off x="731520" y="2103120"/>
            <a:ext cx="7315200" cy="91440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ph idx="101"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POWER BI PROJECT PRESENTATION</a:t>
            </a:r>
            <a:endParaRPr lang="en-US" sz="1100" dirty="0"/>
          </a:p>
        </p:txBody>
      </p:sp>
      <p:sp>
        <p:nvSpPr>
          <p:cNvPr id="3" name="Text 0"/>
          <p:cNvSpPr/>
          <p:nvPr>
            <p:ph idx="102" type="title" hasCustomPrompt="1"/>
          </p:nvPr>
        </p:nvSpPr>
        <p:spPr>
          <a:xfrm>
            <a:off x="731520" y="2148840"/>
            <a:ext cx="6035040" cy="1737360"/>
          </a:xfrm>
          <a:prstGeom prst="rect">
            <a:avLst/>
          </a:prstGeom>
          <a:noFill/>
          <a:ln/>
        </p:spPr>
        <p:txBody>
          <a:bodyPr wrap="square" lIns="0" tIns="0" rIns="0" bIns="0" rtlCol="0" anchor="t"/>
          <a:lstStyle/>
          <a:p>
            <a:pPr algn="l" indent="0" marL="0">
              <a:buNone/>
            </a:pPr>
            <a:r>
              <a:rPr lang="en-US" sz="4000" b="1" dirty="0">
                <a:solidFill>
                  <a:schemeClr val="tx2"/>
                </a:solidFill>
              </a:rPr>
              <a:t>Manufacturing Defect Analysis Dashboard</a:t>
            </a:r>
            <a:endParaRPr lang="en-US" sz="4000" dirty="0"/>
          </a:p>
        </p:txBody>
      </p:sp>
      <p:sp>
        <p:nvSpPr>
          <p:cNvPr id="4" name="Presenter label"/>
          <p:cNvSpPr txBox="1"/>
          <p:nvPr/>
        </p:nvSpPr>
        <p:spPr>
          <a:xfrm>
            <a:off x="731520" y="4160520"/>
            <a:ext cx="3657600" cy="274320"/>
          </a:xfrm>
          <a:prstGeom prst="rect">
            <a:avLst/>
          </a:prstGeom>
          <a:noFill/>
          <a:ln/>
        </p:spPr>
        <p:txBody>
          <a:bodyPr wrap="square" lIns="0" tIns="0" rIns="0" bIns="0" rtlCol="0" anchor="t"/>
          <a:lstStyle/>
          <a:p>
            <a:pPr indent="0" marL="0">
              <a:buNone/>
            </a:pPr>
            <a:r>
              <a:rPr lang="en-US" sz="1200" dirty="0">
                <a:solidFill>
                  <a:schemeClr val="accent4"/>
                </a:solidFill>
              </a:rPr>
              <a:t>Presented by</a:t>
            </a:r>
            <a:endParaRPr lang="en-US" sz="1200" dirty="0"/>
          </a:p>
        </p:txBody>
      </p:sp>
      <p:sp>
        <p:nvSpPr>
          <p:cNvPr id="5" name="Presenter"/>
          <p:cNvSpPr txBox="1"/>
          <p:nvPr/>
        </p:nvSpPr>
        <p:spPr>
          <a:xfrm>
            <a:off x="731520" y="4434840"/>
            <a:ext cx="4572000" cy="365760"/>
          </a:xfrm>
          <a:prstGeom prst="rect">
            <a:avLst/>
          </a:prstGeom>
          <a:noFill/>
          <a:ln/>
        </p:spPr>
        <p:txBody>
          <a:bodyPr wrap="square" lIns="0" tIns="0" rIns="0" bIns="0" rtlCol="0" anchor="t"/>
          <a:lstStyle/>
          <a:p>
            <a:pPr indent="0" marL="0">
              <a:buNone/>
            </a:pPr>
            <a:r>
              <a:rPr lang="en-US" sz="2000" b="1" dirty="0">
                <a:solidFill>
                  <a:schemeClr val="tx2"/>
                </a:solidFill>
              </a:rPr>
              <a:t>Astala Kumari Nayak</a:t>
            </a:r>
            <a:endParaRPr lang="en-US" sz="2000" dirty="0"/>
          </a:p>
        </p:txBody>
      </p:sp>
      <p:sp>
        <p:nvSpPr>
          <p:cNvPr id="6" name="Trainer label"/>
          <p:cNvSpPr txBox="1"/>
          <p:nvPr/>
        </p:nvSpPr>
        <p:spPr>
          <a:xfrm>
            <a:off x="731520" y="5029200"/>
            <a:ext cx="3657600" cy="274320"/>
          </a:xfrm>
          <a:prstGeom prst="rect">
            <a:avLst/>
          </a:prstGeom>
          <a:noFill/>
          <a:ln/>
        </p:spPr>
        <p:txBody>
          <a:bodyPr wrap="square" lIns="0" tIns="0" rIns="0" bIns="0" rtlCol="0" anchor="t"/>
          <a:lstStyle/>
          <a:p>
            <a:pPr indent="0" marL="0">
              <a:buNone/>
            </a:pPr>
            <a:r>
              <a:rPr lang="en-US" sz="1200" dirty="0">
                <a:solidFill>
                  <a:schemeClr val="accent4"/>
                </a:solidFill>
              </a:rPr>
              <a:t>Trainer</a:t>
            </a:r>
            <a:endParaRPr lang="en-US" sz="1200" dirty="0"/>
          </a:p>
        </p:txBody>
      </p:sp>
      <p:sp>
        <p:nvSpPr>
          <p:cNvPr id="7" name="Trainer"/>
          <p:cNvSpPr txBox="1"/>
          <p:nvPr/>
        </p:nvSpPr>
        <p:spPr>
          <a:xfrm>
            <a:off x="731520" y="5303520"/>
            <a:ext cx="4572000" cy="365760"/>
          </a:xfrm>
          <a:prstGeom prst="rect">
            <a:avLst/>
          </a:prstGeom>
          <a:noFill/>
          <a:ln/>
        </p:spPr>
        <p:txBody>
          <a:bodyPr wrap="square" lIns="0" tIns="0" rIns="0" bIns="0" rtlCol="0" anchor="t"/>
          <a:lstStyle/>
          <a:p>
            <a:pPr indent="0" marL="0">
              <a:buNone/>
            </a:pPr>
            <a:r>
              <a:rPr lang="en-US" sz="2000" b="1" dirty="0">
                <a:solidFill>
                  <a:schemeClr val="tx2"/>
                </a:solidFill>
              </a:rPr>
              <a:t>Mr. Dinesh Chilka</a:t>
            </a:r>
            <a:endParaRPr lang="en-US" sz="2000" dirty="0"/>
          </a:p>
        </p:txBody>
      </p:sp>
      <p:sp>
        <p:nvSpPr>
          <p:cNvPr id="8" name="Dashboard page"/>
          <p:cNvSpPr/>
          <p:nvPr/>
        </p:nvSpPr>
        <p:spPr>
          <a:xfrm>
            <a:off x="7315200" y="2331720"/>
            <a:ext cx="4297680" cy="2417445"/>
          </a:xfrm>
          <a:prstGeom prst="roundRect">
            <a:avLst>
              <a:gd name="adj" fmla="val 3026"/>
            </a:avLst>
          </a:prstGeom>
          <a:solidFill>
            <a:schemeClr val="bg1"/>
          </a:solidFill>
          <a:ln/>
          <a:effectLst>
            <a:outerShdw sx="100000" sy="100000" kx="0" ky="0" algn="bl" rotWithShape="0" blurRad="101600" dist="25400" dir="5400000">
              <a:srgbClr val="14183A">
                <a:alpha val="12000"/>
              </a:srgbClr>
            </a:outerShdw>
          </a:effectLst>
        </p:spPr>
      </p:sp>
      <p:sp>
        <p:nvSpPr>
          <p:cNvPr id="9" name="Wire slicer"/>
          <p:cNvSpPr/>
          <p:nvPr/>
        </p:nvSpPr>
        <p:spPr>
          <a:xfrm>
            <a:off x="10813042" y="2378435"/>
            <a:ext cx="781774" cy="295599"/>
          </a:xfrm>
          <a:prstGeom prst="roundRect">
            <a:avLst>
              <a:gd name="adj" fmla="val 15467"/>
            </a:avLst>
          </a:prstGeom>
          <a:solidFill>
            <a:schemeClr val="accent2"/>
          </a:solidFill>
          <a:ln/>
        </p:spPr>
      </p:sp>
      <p:sp>
        <p:nvSpPr>
          <p:cNvPr id="10" name="Wire slicer"/>
          <p:cNvSpPr/>
          <p:nvPr/>
        </p:nvSpPr>
        <p:spPr>
          <a:xfrm>
            <a:off x="10813042" y="2710386"/>
            <a:ext cx="643890" cy="291570"/>
          </a:xfrm>
          <a:prstGeom prst="roundRect">
            <a:avLst>
              <a:gd name="adj" fmla="val 15681"/>
            </a:avLst>
          </a:prstGeom>
          <a:solidFill>
            <a:schemeClr val="accent2"/>
          </a:solidFill>
          <a:ln/>
        </p:spPr>
      </p:sp>
      <p:sp>
        <p:nvSpPr>
          <p:cNvPr id="11" name="Wire card"/>
          <p:cNvSpPr/>
          <p:nvPr/>
        </p:nvSpPr>
        <p:spPr>
          <a:xfrm>
            <a:off x="7827721" y="2653755"/>
            <a:ext cx="1223181" cy="218599"/>
          </a:xfrm>
          <a:prstGeom prst="roundRect">
            <a:avLst>
              <a:gd name="adj" fmla="val 20915"/>
            </a:avLst>
          </a:prstGeom>
          <a:solidFill>
            <a:schemeClr val="accent1"/>
          </a:solidFill>
          <a:ln/>
        </p:spPr>
      </p:sp>
      <p:sp>
        <p:nvSpPr>
          <p:cNvPr id="12" name="Wire card"/>
          <p:cNvSpPr/>
          <p:nvPr/>
        </p:nvSpPr>
        <p:spPr>
          <a:xfrm>
            <a:off x="9087479" y="2657785"/>
            <a:ext cx="1247580" cy="218599"/>
          </a:xfrm>
          <a:prstGeom prst="roundRect">
            <a:avLst>
              <a:gd name="adj" fmla="val 20915"/>
            </a:avLst>
          </a:prstGeom>
          <a:solidFill>
            <a:schemeClr val="accent1"/>
          </a:solidFill>
          <a:ln/>
        </p:spPr>
      </p:sp>
      <p:sp>
        <p:nvSpPr>
          <p:cNvPr id="13" name="Wire chart"/>
          <p:cNvSpPr/>
          <p:nvPr/>
        </p:nvSpPr>
        <p:spPr>
          <a:xfrm>
            <a:off x="7617090" y="2989959"/>
            <a:ext cx="1701075" cy="830347"/>
          </a:xfrm>
          <a:prstGeom prst="roundRect">
            <a:avLst>
              <a:gd name="adj" fmla="val 5506"/>
            </a:avLst>
          </a:prstGeom>
          <a:solidFill>
            <a:schemeClr val="accent6"/>
          </a:solidFill>
          <a:ln/>
        </p:spPr>
      </p:sp>
      <p:sp>
        <p:nvSpPr>
          <p:cNvPr id="14" name="Wire chart"/>
          <p:cNvSpPr/>
          <p:nvPr/>
        </p:nvSpPr>
        <p:spPr>
          <a:xfrm>
            <a:off x="9630061" y="3038532"/>
            <a:ext cx="1668842" cy="895036"/>
          </a:xfrm>
          <a:prstGeom prst="roundRect">
            <a:avLst>
              <a:gd name="adj" fmla="val 5108"/>
            </a:avLst>
          </a:prstGeom>
          <a:solidFill>
            <a:schemeClr val="accent6"/>
          </a:solidFill>
          <a:ln/>
        </p:spPr>
      </p:sp>
      <p:sp>
        <p:nvSpPr>
          <p:cNvPr id="15" name="Wire chart"/>
          <p:cNvSpPr/>
          <p:nvPr/>
        </p:nvSpPr>
        <p:spPr>
          <a:xfrm>
            <a:off x="7495546" y="3885309"/>
            <a:ext cx="1895589" cy="769463"/>
          </a:xfrm>
          <a:prstGeom prst="roundRect">
            <a:avLst>
              <a:gd name="adj" fmla="val 5942"/>
            </a:avLst>
          </a:prstGeom>
          <a:solidFill>
            <a:schemeClr val="accent6"/>
          </a:solidFill>
          <a:ln/>
        </p:spPr>
      </p:sp>
      <p:sp>
        <p:nvSpPr>
          <p:cNvPr id="16" name="Wire chart"/>
          <p:cNvSpPr/>
          <p:nvPr/>
        </p:nvSpPr>
        <p:spPr>
          <a:xfrm>
            <a:off x="9731459" y="4043115"/>
            <a:ext cx="1308240" cy="688434"/>
          </a:xfrm>
          <a:prstGeom prst="roundRect">
            <a:avLst>
              <a:gd name="adj" fmla="val 6641"/>
            </a:avLst>
          </a:prstGeom>
          <a:solidFill>
            <a:schemeClr val="accent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PROJECT OVERVIEW</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tx2"/>
                </a:solidFill>
              </a:rPr>
              <a:t>One dashboard for defect analysis</a:t>
            </a:r>
            <a:endParaRPr lang="en-US" sz="3400" dirty="0"/>
          </a:p>
        </p:txBody>
      </p:sp>
      <p:sp>
        <p:nvSpPr>
          <p:cNvPr id="4" name="Objective card"/>
          <p:cNvSpPr/>
          <p:nvPr/>
        </p:nvSpPr>
        <p:spPr>
          <a:xfrm>
            <a:off x="548640" y="1828800"/>
            <a:ext cx="3474720" cy="3566160"/>
          </a:xfrm>
          <a:prstGeom prst="roundRect">
            <a:avLst>
              <a:gd name="adj" fmla="val 2632"/>
            </a:avLst>
          </a:prstGeom>
          <a:solidFill>
            <a:schemeClr val="bg1"/>
          </a:solidFill>
          <a:ln/>
          <a:effectLst>
            <a:outerShdw sx="100000" sy="100000" kx="0" ky="0" algn="bl" rotWithShape="0" blurRad="101600" dist="25400" dir="5400000">
              <a:srgbClr val="14183A">
                <a:alpha val="12000"/>
              </a:srgbClr>
            </a:outerShdw>
          </a:effectLst>
        </p:spPr>
      </p:sp>
      <p:sp>
        <p:nvSpPr>
          <p:cNvPr id="5" name="Objective icon circle"/>
          <p:cNvSpPr/>
          <p:nvPr/>
        </p:nvSpPr>
        <p:spPr>
          <a:xfrm>
            <a:off x="868680" y="2148840"/>
            <a:ext cx="731520" cy="731520"/>
          </a:xfrm>
          <a:prstGeom prst="ellipse">
            <a:avLst/>
          </a:prstGeom>
          <a:solidFill>
            <a:schemeClr val="accent1"/>
          </a:solidFill>
          <a:ln/>
        </p:spPr>
      </p:sp>
      <p:pic>
        <p:nvPicPr>
          <p:cNvPr id="6" name="Objective icon" descr="Objective icon">    </p:cNvPr>
          <p:cNvPicPr>
            <a:picLocks noChangeAspect="1"/>
          </p:cNvPicPr>
          <p:nvPr/>
        </p:nvPicPr>
        <p:blipFill>
          <a:blip r:embed="rId1"/>
          <a:stretch>
            <a:fillRect/>
          </a:stretch>
        </p:blipFill>
        <p:spPr>
          <a:xfrm>
            <a:off x="1073506" y="2353666"/>
            <a:ext cx="321869" cy="321869"/>
          </a:xfrm>
          <a:prstGeom prst="rect">
            <a:avLst/>
          </a:prstGeom>
        </p:spPr>
      </p:pic>
      <p:sp>
        <p:nvSpPr>
          <p:cNvPr id="7" name="Objective heading"/>
          <p:cNvSpPr txBox="1"/>
          <p:nvPr/>
        </p:nvSpPr>
        <p:spPr>
          <a:xfrm>
            <a:off x="868680" y="3063240"/>
            <a:ext cx="2834640" cy="411480"/>
          </a:xfrm>
          <a:prstGeom prst="rect">
            <a:avLst/>
          </a:prstGeom>
          <a:noFill/>
          <a:ln/>
        </p:spPr>
        <p:txBody>
          <a:bodyPr wrap="square" lIns="0" tIns="0" rIns="0" bIns="0" rtlCol="0" anchor="t"/>
          <a:lstStyle/>
          <a:p>
            <a:pPr indent="0" marL="0">
              <a:buNone/>
            </a:pPr>
            <a:r>
              <a:rPr lang="en-US" sz="2200" b="1" dirty="0">
                <a:solidFill>
                  <a:schemeClr val="tx2"/>
                </a:solidFill>
              </a:rPr>
              <a:t>Objective</a:t>
            </a:r>
            <a:endParaRPr lang="en-US" sz="2200" dirty="0"/>
          </a:p>
        </p:txBody>
      </p:sp>
      <p:sp>
        <p:nvSpPr>
          <p:cNvPr id="8" name="Objective text"/>
          <p:cNvSpPr txBox="1"/>
          <p:nvPr/>
        </p:nvSpPr>
        <p:spPr>
          <a:xfrm>
            <a:off x="868680" y="3611880"/>
            <a:ext cx="2834640" cy="1645920"/>
          </a:xfrm>
          <a:prstGeom prst="rect">
            <a:avLst/>
          </a:prstGeom>
          <a:noFill/>
          <a:ln/>
        </p:spPr>
        <p:txBody>
          <a:bodyPr wrap="square" lIns="0" tIns="0" rIns="0" bIns="0" rtlCol="0" anchor="t"/>
          <a:lstStyle/>
          <a:p>
            <a:pPr indent="0" marL="0">
              <a:buNone/>
            </a:pPr>
            <a:r>
              <a:rPr lang="en-US" sz="1400" dirty="0">
                <a:solidFill>
                  <a:schemeClr val="tx1"/>
                </a:solidFill>
              </a:rPr>
              <a:t>Show how many defects occur, how severe they are, where they happen and what they cost to repair, all on one page.</a:t>
            </a:r>
            <a:endParaRPr lang="en-US" sz="1400" dirty="0"/>
          </a:p>
        </p:txBody>
      </p:sp>
      <p:sp>
        <p:nvSpPr>
          <p:cNvPr id="9" name="Data card"/>
          <p:cNvSpPr/>
          <p:nvPr/>
        </p:nvSpPr>
        <p:spPr>
          <a:xfrm>
            <a:off x="4297680" y="1828800"/>
            <a:ext cx="3474720" cy="3566160"/>
          </a:xfrm>
          <a:prstGeom prst="roundRect">
            <a:avLst>
              <a:gd name="adj" fmla="val 2632"/>
            </a:avLst>
          </a:prstGeom>
          <a:solidFill>
            <a:schemeClr val="bg1"/>
          </a:solidFill>
          <a:ln/>
          <a:effectLst>
            <a:outerShdw sx="100000" sy="100000" kx="0" ky="0" algn="bl" rotWithShape="0" blurRad="101600" dist="25400" dir="5400000">
              <a:srgbClr val="14183A">
                <a:alpha val="12000"/>
              </a:srgbClr>
            </a:outerShdw>
          </a:effectLst>
        </p:spPr>
      </p:sp>
      <p:sp>
        <p:nvSpPr>
          <p:cNvPr id="10" name="Data icon circle"/>
          <p:cNvSpPr/>
          <p:nvPr/>
        </p:nvSpPr>
        <p:spPr>
          <a:xfrm>
            <a:off x="4617720" y="2148840"/>
            <a:ext cx="731520" cy="731520"/>
          </a:xfrm>
          <a:prstGeom prst="ellipse">
            <a:avLst/>
          </a:prstGeom>
          <a:solidFill>
            <a:schemeClr val="accent1"/>
          </a:solidFill>
          <a:ln/>
        </p:spPr>
      </p:sp>
      <p:pic>
        <p:nvPicPr>
          <p:cNvPr id="11" name="Data icon" descr="Data icon">    </p:cNvPr>
          <p:cNvPicPr>
            <a:picLocks noChangeAspect="1"/>
          </p:cNvPicPr>
          <p:nvPr/>
        </p:nvPicPr>
        <p:blipFill>
          <a:blip r:embed="rId2"/>
          <a:stretch>
            <a:fillRect/>
          </a:stretch>
        </p:blipFill>
        <p:spPr>
          <a:xfrm>
            <a:off x="4822546" y="2353666"/>
            <a:ext cx="321869" cy="321869"/>
          </a:xfrm>
          <a:prstGeom prst="rect">
            <a:avLst/>
          </a:prstGeom>
        </p:spPr>
      </p:pic>
      <p:sp>
        <p:nvSpPr>
          <p:cNvPr id="12" name="Data heading"/>
          <p:cNvSpPr txBox="1"/>
          <p:nvPr/>
        </p:nvSpPr>
        <p:spPr>
          <a:xfrm>
            <a:off x="4617720" y="3063240"/>
            <a:ext cx="2834640" cy="411480"/>
          </a:xfrm>
          <a:prstGeom prst="rect">
            <a:avLst/>
          </a:prstGeom>
          <a:noFill/>
          <a:ln/>
        </p:spPr>
        <p:txBody>
          <a:bodyPr wrap="square" lIns="0" tIns="0" rIns="0" bIns="0" rtlCol="0" anchor="t"/>
          <a:lstStyle/>
          <a:p>
            <a:pPr indent="0" marL="0">
              <a:buNone/>
            </a:pPr>
            <a:r>
              <a:rPr lang="en-US" sz="2200" b="1" dirty="0">
                <a:solidFill>
                  <a:schemeClr val="tx2"/>
                </a:solidFill>
              </a:rPr>
              <a:t>Data</a:t>
            </a:r>
            <a:endParaRPr lang="en-US" sz="2200" dirty="0"/>
          </a:p>
        </p:txBody>
      </p:sp>
      <p:sp>
        <p:nvSpPr>
          <p:cNvPr id="13" name="Data text"/>
          <p:cNvSpPr txBox="1"/>
          <p:nvPr/>
        </p:nvSpPr>
        <p:spPr>
          <a:xfrm>
            <a:off x="4617720" y="3611880"/>
            <a:ext cx="2834640" cy="1645920"/>
          </a:xfrm>
          <a:prstGeom prst="rect">
            <a:avLst/>
          </a:prstGeom>
          <a:noFill/>
          <a:ln/>
        </p:spPr>
        <p:txBody>
          <a:bodyPr wrap="square" lIns="0" tIns="0" rIns="0" bIns="0" rtlCol="0" anchor="t"/>
          <a:lstStyle/>
          <a:p>
            <a:pPr indent="0" marL="0">
              <a:buNone/>
            </a:pPr>
            <a:r>
              <a:rPr lang="en-US" sz="1400" dirty="0">
                <a:solidFill>
                  <a:schemeClr val="tx1"/>
                </a:solidFill>
              </a:rPr>
              <a:t>One table, defects_data, with the defect type, severity, location, inspection method and repair cost of each defect.</a:t>
            </a:r>
            <a:endParaRPr lang="en-US" sz="1400" dirty="0"/>
          </a:p>
        </p:txBody>
      </p:sp>
      <p:sp>
        <p:nvSpPr>
          <p:cNvPr id="14" name="Tool card"/>
          <p:cNvSpPr/>
          <p:nvPr/>
        </p:nvSpPr>
        <p:spPr>
          <a:xfrm>
            <a:off x="8046720" y="1828800"/>
            <a:ext cx="3474720" cy="3566160"/>
          </a:xfrm>
          <a:prstGeom prst="roundRect">
            <a:avLst>
              <a:gd name="adj" fmla="val 2632"/>
            </a:avLst>
          </a:prstGeom>
          <a:solidFill>
            <a:schemeClr val="bg1"/>
          </a:solidFill>
          <a:ln/>
          <a:effectLst>
            <a:outerShdw sx="100000" sy="100000" kx="0" ky="0" algn="bl" rotWithShape="0" blurRad="101600" dist="25400" dir="5400000">
              <a:srgbClr val="14183A">
                <a:alpha val="12000"/>
              </a:srgbClr>
            </a:outerShdw>
          </a:effectLst>
        </p:spPr>
      </p:sp>
      <p:sp>
        <p:nvSpPr>
          <p:cNvPr id="15" name="Tool icon circle"/>
          <p:cNvSpPr/>
          <p:nvPr/>
        </p:nvSpPr>
        <p:spPr>
          <a:xfrm>
            <a:off x="8366760" y="2148840"/>
            <a:ext cx="731520" cy="731520"/>
          </a:xfrm>
          <a:prstGeom prst="ellipse">
            <a:avLst/>
          </a:prstGeom>
          <a:solidFill>
            <a:schemeClr val="accent1"/>
          </a:solidFill>
          <a:ln/>
        </p:spPr>
      </p:sp>
      <p:pic>
        <p:nvPicPr>
          <p:cNvPr id="16" name="Tool icon" descr="Tool icon">    </p:cNvPr>
          <p:cNvPicPr>
            <a:picLocks noChangeAspect="1"/>
          </p:cNvPicPr>
          <p:nvPr/>
        </p:nvPicPr>
        <p:blipFill>
          <a:blip r:embed="rId3"/>
          <a:stretch>
            <a:fillRect/>
          </a:stretch>
        </p:blipFill>
        <p:spPr>
          <a:xfrm>
            <a:off x="8571586" y="2353666"/>
            <a:ext cx="321869" cy="321869"/>
          </a:xfrm>
          <a:prstGeom prst="rect">
            <a:avLst/>
          </a:prstGeom>
        </p:spPr>
      </p:pic>
      <p:sp>
        <p:nvSpPr>
          <p:cNvPr id="17" name="Tool heading"/>
          <p:cNvSpPr txBox="1"/>
          <p:nvPr/>
        </p:nvSpPr>
        <p:spPr>
          <a:xfrm>
            <a:off x="8366760" y="3063240"/>
            <a:ext cx="2834640" cy="411480"/>
          </a:xfrm>
          <a:prstGeom prst="rect">
            <a:avLst/>
          </a:prstGeom>
          <a:noFill/>
          <a:ln/>
        </p:spPr>
        <p:txBody>
          <a:bodyPr wrap="square" lIns="0" tIns="0" rIns="0" bIns="0" rtlCol="0" anchor="t"/>
          <a:lstStyle/>
          <a:p>
            <a:pPr indent="0" marL="0">
              <a:buNone/>
            </a:pPr>
            <a:r>
              <a:rPr lang="en-US" sz="2200" b="1" dirty="0">
                <a:solidFill>
                  <a:schemeClr val="tx2"/>
                </a:solidFill>
              </a:rPr>
              <a:t>Tool</a:t>
            </a:r>
            <a:endParaRPr lang="en-US" sz="2200" dirty="0"/>
          </a:p>
        </p:txBody>
      </p:sp>
      <p:sp>
        <p:nvSpPr>
          <p:cNvPr id="18" name="Tool text"/>
          <p:cNvSpPr txBox="1"/>
          <p:nvPr/>
        </p:nvSpPr>
        <p:spPr>
          <a:xfrm>
            <a:off x="8366760" y="3611880"/>
            <a:ext cx="2834640" cy="1645920"/>
          </a:xfrm>
          <a:prstGeom prst="rect">
            <a:avLst/>
          </a:prstGeom>
          <a:noFill/>
          <a:ln/>
        </p:spPr>
        <p:txBody>
          <a:bodyPr wrap="square" lIns="0" tIns="0" rIns="0" bIns="0" rtlCol="0" anchor="t"/>
          <a:lstStyle/>
          <a:p>
            <a:pPr indent="0" marL="0">
              <a:buNone/>
            </a:pPr>
            <a:r>
              <a:rPr lang="en-US" sz="1400" dirty="0">
                <a:solidFill>
                  <a:schemeClr val="tx1"/>
                </a:solidFill>
              </a:rPr>
              <a:t>Microsoft Power BI: one report page with two KPI cards, four charts and two slicers that filter every visual.</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THE DATASET</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tx2"/>
                </a:solidFill>
              </a:rPr>
              <a:t>Six fields drive every visual</a:t>
            </a:r>
            <a:endParaRPr lang="en-US" sz="3400" dirty="0"/>
          </a:p>
        </p:txBody>
      </p:sp>
      <p:graphicFrame>
        <p:nvGraphicFramePr>
          <p:cNvPr id="4" name="Dataset table"/>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651760"/>
                <a:gridCol w="5120640"/>
                <a:gridCol w="3291840"/>
              </a:tblGrid>
              <a:tr h="512064">
                <a:tc>
                  <a:txBody>
                    <a:bodyPr/>
                    <a:lstStyle/>
                    <a:p>
                      <a:pPr indent="0" marL="0">
                        <a:buNone/>
                      </a:pPr>
                      <a:r>
                        <a:rPr lang="en-US" sz="1400" b="1" dirty="0">
                          <a:solidFill>
                            <a:schemeClr val="bg1"/>
                          </a:solidFill>
                        </a:rPr>
                        <a:t>Field</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Role in the dashboard</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Used in</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accent1"/>
                    </a:solidFill>
                  </a:tcPr>
                </a:tc>
              </a:tr>
              <a:tr h="512064">
                <a:tc>
                  <a:txBody>
                    <a:bodyPr/>
                    <a:lstStyle/>
                    <a:p>
                      <a:pPr indent="0" marL="0">
                        <a:buNone/>
                      </a:pPr>
                      <a:r>
                        <a:rPr lang="en-US" sz="1400" b="1" dirty="0">
                          <a:solidFill>
                            <a:schemeClr val="tx2"/>
                          </a:solidFill>
                        </a:rPr>
                        <a:t>defect_id</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Identifies each defect; summed for Total Defects</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KPI card, all four charts</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defect_type</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kind of defect</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Pie chart</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severity</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How serious the defect is</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Bar chart, slicer</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defect_location</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Where the defect occurs</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Column chart, slicer</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inspection_method</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How the defect was found</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Donut chart</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repair_cost</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What it costs to repair; summed</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Total Repair Cost card</a:t>
                      </a:r>
                      <a:endParaRPr lang="en-US" sz="1400" dirty="0"/>
                    </a:p>
                  </a:txBody>
                  <a:tcPr marL="137160" marR="137160" marT="0" marB="0" anchor="ctr">
                    <a:lnL w="12700" cap="flat" cmpd="sng" algn="ctr">
                      <a:solidFill>
                        <a:srgbClr val="E4E6F5"/>
                      </a:solidFill>
                      <a:prstDash val="solid"/>
                      <a:round/>
                      <a:headEnd type="none" w="med" len="med"/>
                      <a:tailEnd type="none" w="med" len="med"/>
                    </a:lnL>
                    <a:lnR w="12700" cap="flat" cmpd="sng" algn="ctr">
                      <a:solidFill>
                        <a:srgbClr val="E4E6F5"/>
                      </a:solidFill>
                      <a:prstDash val="solid"/>
                      <a:round/>
                      <a:headEnd type="none" w="med" len="med"/>
                      <a:tailEnd type="none" w="med" len="med"/>
                    </a:lnR>
                    <a:lnT w="12700" cap="flat" cmpd="sng" algn="ctr">
                      <a:solidFill>
                        <a:srgbClr val="E4E6F5"/>
                      </a:solidFill>
                      <a:prstDash val="solid"/>
                      <a:round/>
                      <a:headEnd type="none" w="med" len="med"/>
                      <a:tailEnd type="none" w="med" len="med"/>
                    </a:lnT>
                    <a:lnB w="12700" cap="flat" cmpd="sng" algn="ctr">
                      <a:solidFill>
                        <a:srgbClr val="E4E6F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REPORT STRUCTURE</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tx2"/>
                </a:solidFill>
              </a:rPr>
              <a:t>One page, eight visuals</a:t>
            </a:r>
            <a:endParaRPr lang="en-US" sz="3400" dirty="0"/>
          </a:p>
        </p:txBody>
      </p:sp>
      <p:sp>
        <p:nvSpPr>
          <p:cNvPr id="4" name="Dashboard page"/>
          <p:cNvSpPr/>
          <p:nvPr/>
        </p:nvSpPr>
        <p:spPr>
          <a:xfrm>
            <a:off x="548640" y="1828800"/>
            <a:ext cx="6583680" cy="3703320"/>
          </a:xfrm>
          <a:prstGeom prst="roundRect">
            <a:avLst>
              <a:gd name="adj" fmla="val 1975"/>
            </a:avLst>
          </a:prstGeom>
          <a:solidFill>
            <a:schemeClr val="bg1"/>
          </a:solidFill>
          <a:ln/>
          <a:effectLst>
            <a:outerShdw sx="100000" sy="100000" kx="0" ky="0" algn="bl" rotWithShape="0" blurRad="101600" dist="25400" dir="5400000">
              <a:srgbClr val="14183A">
                <a:alpha val="12000"/>
              </a:srgbClr>
            </a:outerShdw>
          </a:effectLst>
        </p:spPr>
      </p:sp>
      <p:sp>
        <p:nvSpPr>
          <p:cNvPr id="5" name="Wire title"/>
          <p:cNvSpPr txBox="1"/>
          <p:nvPr/>
        </p:nvSpPr>
        <p:spPr>
          <a:xfrm>
            <a:off x="566928" y="1890636"/>
            <a:ext cx="4325112" cy="205511"/>
          </a:xfrm>
          <a:prstGeom prst="rect">
            <a:avLst/>
          </a:prstGeom>
          <a:noFill/>
          <a:ln/>
        </p:spPr>
        <p:txBody>
          <a:bodyPr wrap="square" lIns="0" tIns="0" rIns="0" bIns="0" rtlCol="0" anchor="ctr"/>
          <a:lstStyle/>
          <a:p>
            <a:pPr indent="0" marL="0">
              <a:buNone/>
            </a:pPr>
            <a:r>
              <a:rPr lang="en-US" sz="1000" b="1" dirty="0">
                <a:solidFill>
                  <a:schemeClr val="tx2"/>
                </a:solidFill>
              </a:rPr>
              <a:t>Manufacturing Defect Analysis Dashboard</a:t>
            </a:r>
            <a:endParaRPr lang="en-US" sz="1000" dirty="0"/>
          </a:p>
        </p:txBody>
      </p:sp>
      <p:sp>
        <p:nvSpPr>
          <p:cNvPr id="6" name="Wire slicer"/>
          <p:cNvSpPr/>
          <p:nvPr/>
        </p:nvSpPr>
        <p:spPr>
          <a:xfrm>
            <a:off x="5897309" y="1890636"/>
            <a:ext cx="1217066" cy="472288"/>
          </a:xfrm>
          <a:prstGeom prst="roundRect">
            <a:avLst>
              <a:gd name="adj" fmla="val 9681"/>
            </a:avLst>
          </a:prstGeom>
          <a:solidFill>
            <a:schemeClr val="accent2"/>
          </a:solidFill>
          <a:ln/>
        </p:spPr>
      </p:sp>
      <p:sp>
        <p:nvSpPr>
          <p:cNvPr id="7" name="Wire label"/>
          <p:cNvSpPr txBox="1"/>
          <p:nvPr/>
        </p:nvSpPr>
        <p:spPr>
          <a:xfrm>
            <a:off x="5897309" y="1890636"/>
            <a:ext cx="1217066" cy="472288"/>
          </a:xfrm>
          <a:prstGeom prst="rect">
            <a:avLst/>
          </a:prstGeom>
          <a:noFill/>
          <a:ln/>
        </p:spPr>
        <p:txBody>
          <a:bodyPr wrap="square" lIns="0" tIns="0" rIns="0" bIns="0" rtlCol="0" anchor="ctr"/>
          <a:lstStyle/>
          <a:p>
            <a:pPr algn="ctr" indent="0" marL="0">
              <a:buNone/>
            </a:pPr>
            <a:r>
              <a:rPr lang="en-US" sz="1000" b="1" dirty="0">
                <a:solidFill>
                  <a:schemeClr val="bg1"/>
                </a:solidFill>
              </a:rPr>
              <a:t>Severity</a:t>
            </a:r>
            <a:endParaRPr lang="en-US" sz="1000" dirty="0"/>
          </a:p>
          <a:p>
            <a:pPr algn="ctr" indent="0" marL="0">
              <a:buNone/>
            </a:pPr>
            <a:r>
              <a:rPr lang="en-US" sz="1000" b="1" dirty="0">
                <a:solidFill>
                  <a:schemeClr val="bg1"/>
                </a:solidFill>
              </a:rPr>
              <a:t>slicer</a:t>
            </a:r>
            <a:endParaRPr lang="en-US" sz="1000" dirty="0"/>
          </a:p>
        </p:txBody>
      </p:sp>
      <p:sp>
        <p:nvSpPr>
          <p:cNvPr id="8" name="Wire slicer"/>
          <p:cNvSpPr/>
          <p:nvPr/>
        </p:nvSpPr>
        <p:spPr>
          <a:xfrm>
            <a:off x="5897309" y="2399157"/>
            <a:ext cx="1005840" cy="466115"/>
          </a:xfrm>
          <a:prstGeom prst="roundRect">
            <a:avLst>
              <a:gd name="adj" fmla="val 9809"/>
            </a:avLst>
          </a:prstGeom>
          <a:solidFill>
            <a:schemeClr val="accent2"/>
          </a:solidFill>
          <a:ln/>
        </p:spPr>
      </p:sp>
      <p:sp>
        <p:nvSpPr>
          <p:cNvPr id="9" name="Wire label"/>
          <p:cNvSpPr txBox="1"/>
          <p:nvPr/>
        </p:nvSpPr>
        <p:spPr>
          <a:xfrm>
            <a:off x="5897309" y="2399157"/>
            <a:ext cx="1005840" cy="466115"/>
          </a:xfrm>
          <a:prstGeom prst="rect">
            <a:avLst/>
          </a:prstGeom>
          <a:noFill/>
          <a:ln/>
        </p:spPr>
        <p:txBody>
          <a:bodyPr wrap="square" lIns="0" tIns="0" rIns="0" bIns="0" rtlCol="0" anchor="ctr"/>
          <a:lstStyle/>
          <a:p>
            <a:pPr algn="ctr" indent="0" marL="0">
              <a:buNone/>
            </a:pPr>
            <a:r>
              <a:rPr lang="en-US" sz="1000" b="1" dirty="0">
                <a:solidFill>
                  <a:schemeClr val="bg1"/>
                </a:solidFill>
              </a:rPr>
              <a:t>Location</a:t>
            </a:r>
            <a:endParaRPr lang="en-US" sz="1000" dirty="0"/>
          </a:p>
          <a:p>
            <a:pPr algn="ctr" indent="0" marL="0">
              <a:buNone/>
            </a:pPr>
            <a:r>
              <a:rPr lang="en-US" sz="1000" b="1" dirty="0">
                <a:solidFill>
                  <a:schemeClr val="bg1"/>
                </a:solidFill>
              </a:rPr>
              <a:t>slicer</a:t>
            </a:r>
            <a:endParaRPr lang="en-US" sz="1000" dirty="0"/>
          </a:p>
        </p:txBody>
      </p:sp>
      <p:sp>
        <p:nvSpPr>
          <p:cNvPr id="10" name="Wire card"/>
          <p:cNvSpPr/>
          <p:nvPr/>
        </p:nvSpPr>
        <p:spPr>
          <a:xfrm>
            <a:off x="1324051" y="2312403"/>
            <a:ext cx="1893265" cy="354330"/>
          </a:xfrm>
          <a:prstGeom prst="roundRect">
            <a:avLst>
              <a:gd name="adj" fmla="val 12903"/>
            </a:avLst>
          </a:prstGeom>
          <a:solidFill>
            <a:schemeClr val="accent1"/>
          </a:solidFill>
          <a:ln/>
        </p:spPr>
      </p:sp>
      <p:sp>
        <p:nvSpPr>
          <p:cNvPr id="11" name="Wire label"/>
          <p:cNvSpPr txBox="1"/>
          <p:nvPr/>
        </p:nvSpPr>
        <p:spPr>
          <a:xfrm>
            <a:off x="1324051" y="2312403"/>
            <a:ext cx="1893265" cy="354330"/>
          </a:xfrm>
          <a:prstGeom prst="rect">
            <a:avLst/>
          </a:prstGeom>
          <a:noFill/>
          <a:ln/>
        </p:spPr>
        <p:txBody>
          <a:bodyPr wrap="square" lIns="0" tIns="0" rIns="0" bIns="0" rtlCol="0" anchor="ctr"/>
          <a:lstStyle/>
          <a:p>
            <a:pPr algn="ctr" indent="0" marL="0">
              <a:buNone/>
            </a:pPr>
            <a:r>
              <a:rPr lang="en-US" sz="1000" b="1" dirty="0">
                <a:solidFill>
                  <a:schemeClr val="bg1"/>
                </a:solidFill>
              </a:rPr>
              <a:t>Total Defects</a:t>
            </a:r>
            <a:endParaRPr lang="en-US" sz="1000" dirty="0"/>
          </a:p>
        </p:txBody>
      </p:sp>
      <p:sp>
        <p:nvSpPr>
          <p:cNvPr id="12" name="Wire card"/>
          <p:cNvSpPr/>
          <p:nvPr/>
        </p:nvSpPr>
        <p:spPr>
          <a:xfrm>
            <a:off x="3253892" y="2318576"/>
            <a:ext cx="1930641" cy="354330"/>
          </a:xfrm>
          <a:prstGeom prst="roundRect">
            <a:avLst>
              <a:gd name="adj" fmla="val 12903"/>
            </a:avLst>
          </a:prstGeom>
          <a:solidFill>
            <a:schemeClr val="accent1"/>
          </a:solidFill>
          <a:ln/>
        </p:spPr>
      </p:sp>
      <p:sp>
        <p:nvSpPr>
          <p:cNvPr id="13" name="Wire label"/>
          <p:cNvSpPr txBox="1"/>
          <p:nvPr/>
        </p:nvSpPr>
        <p:spPr>
          <a:xfrm>
            <a:off x="3253892" y="2318576"/>
            <a:ext cx="1930641" cy="354330"/>
          </a:xfrm>
          <a:prstGeom prst="rect">
            <a:avLst/>
          </a:prstGeom>
          <a:noFill/>
          <a:ln/>
        </p:spPr>
        <p:txBody>
          <a:bodyPr wrap="square" lIns="0" tIns="0" rIns="0" bIns="0" rtlCol="0" anchor="ctr"/>
          <a:lstStyle/>
          <a:p>
            <a:pPr algn="ctr" indent="0" marL="0">
              <a:buNone/>
            </a:pPr>
            <a:r>
              <a:rPr lang="en-US" sz="1000" b="1" dirty="0">
                <a:solidFill>
                  <a:schemeClr val="bg1"/>
                </a:solidFill>
              </a:rPr>
              <a:t>Total Repair Cost</a:t>
            </a:r>
            <a:endParaRPr lang="en-US" sz="1000" dirty="0"/>
          </a:p>
        </p:txBody>
      </p:sp>
      <p:sp>
        <p:nvSpPr>
          <p:cNvPr id="14" name="Wire chart"/>
          <p:cNvSpPr/>
          <p:nvPr/>
        </p:nvSpPr>
        <p:spPr>
          <a:xfrm>
            <a:off x="1001382" y="2827439"/>
            <a:ext cx="2625357" cy="1291476"/>
          </a:xfrm>
          <a:prstGeom prst="roundRect">
            <a:avLst>
              <a:gd name="adj" fmla="val 3540"/>
            </a:avLst>
          </a:prstGeom>
          <a:solidFill>
            <a:schemeClr val="accent6"/>
          </a:solidFill>
          <a:ln/>
        </p:spPr>
      </p:sp>
      <p:sp>
        <p:nvSpPr>
          <p:cNvPr id="15" name="Wire label"/>
          <p:cNvSpPr txBox="1"/>
          <p:nvPr/>
        </p:nvSpPr>
        <p:spPr>
          <a:xfrm>
            <a:off x="1001382" y="2827439"/>
            <a:ext cx="2625357" cy="1291476"/>
          </a:xfrm>
          <a:prstGeom prst="rect">
            <a:avLst/>
          </a:prstGeom>
          <a:noFill/>
          <a:ln/>
        </p:spPr>
        <p:txBody>
          <a:bodyPr wrap="square" lIns="0" tIns="0" rIns="0" bIns="0" rtlCol="0" anchor="ctr"/>
          <a:lstStyle/>
          <a:p>
            <a:pPr algn="ctr" indent="0" marL="0">
              <a:buNone/>
            </a:pPr>
            <a:r>
              <a:rPr lang="en-US" sz="1000" b="1" dirty="0">
                <a:solidFill>
                  <a:schemeClr val="tx2"/>
                </a:solidFill>
              </a:rPr>
              <a:t>Bar chart</a:t>
            </a:r>
            <a:endParaRPr lang="en-US" sz="1000" dirty="0"/>
          </a:p>
          <a:p>
            <a:pPr algn="ctr" indent="0" marL="0">
              <a:buNone/>
            </a:pPr>
            <a:r>
              <a:rPr lang="en-US" sz="1000" b="1" dirty="0">
                <a:solidFill>
                  <a:schemeClr val="tx2"/>
                </a:solidFill>
              </a:rPr>
              <a:t>severity</a:t>
            </a:r>
            <a:endParaRPr lang="en-US" sz="1000" dirty="0"/>
          </a:p>
        </p:txBody>
      </p:sp>
      <p:sp>
        <p:nvSpPr>
          <p:cNvPr id="16" name="Wire chart"/>
          <p:cNvSpPr/>
          <p:nvPr/>
        </p:nvSpPr>
        <p:spPr>
          <a:xfrm>
            <a:off x="4085082" y="2901848"/>
            <a:ext cx="2575979" cy="1390574"/>
          </a:xfrm>
          <a:prstGeom prst="roundRect">
            <a:avLst>
              <a:gd name="adj" fmla="val 3288"/>
            </a:avLst>
          </a:prstGeom>
          <a:solidFill>
            <a:schemeClr val="accent6"/>
          </a:solidFill>
          <a:ln/>
        </p:spPr>
      </p:sp>
      <p:sp>
        <p:nvSpPr>
          <p:cNvPr id="17" name="Wire label"/>
          <p:cNvSpPr txBox="1"/>
          <p:nvPr/>
        </p:nvSpPr>
        <p:spPr>
          <a:xfrm>
            <a:off x="4085082" y="2901848"/>
            <a:ext cx="2575979" cy="1390574"/>
          </a:xfrm>
          <a:prstGeom prst="rect">
            <a:avLst/>
          </a:prstGeom>
          <a:noFill/>
          <a:ln/>
        </p:spPr>
        <p:txBody>
          <a:bodyPr wrap="square" lIns="0" tIns="0" rIns="0" bIns="0" rtlCol="0" anchor="ctr"/>
          <a:lstStyle/>
          <a:p>
            <a:pPr algn="ctr" indent="0" marL="0">
              <a:buNone/>
            </a:pPr>
            <a:r>
              <a:rPr lang="en-US" sz="1000" b="1" dirty="0">
                <a:solidFill>
                  <a:schemeClr val="tx2"/>
                </a:solidFill>
              </a:rPr>
              <a:t>Pie chart</a:t>
            </a:r>
            <a:endParaRPr lang="en-US" sz="1000" dirty="0"/>
          </a:p>
          <a:p>
            <a:pPr algn="ctr" indent="0" marL="0">
              <a:buNone/>
            </a:pPr>
            <a:r>
              <a:rPr lang="en-US" sz="1000" b="1" dirty="0">
                <a:solidFill>
                  <a:schemeClr val="tx2"/>
                </a:solidFill>
              </a:rPr>
              <a:t>defect_type</a:t>
            </a:r>
            <a:endParaRPr lang="en-US" sz="1000" dirty="0"/>
          </a:p>
        </p:txBody>
      </p:sp>
      <p:sp>
        <p:nvSpPr>
          <p:cNvPr id="18" name="Wire chart"/>
          <p:cNvSpPr/>
          <p:nvPr/>
        </p:nvSpPr>
        <p:spPr>
          <a:xfrm>
            <a:off x="815188" y="4199039"/>
            <a:ext cx="2923337" cy="1198207"/>
          </a:xfrm>
          <a:prstGeom prst="roundRect">
            <a:avLst>
              <a:gd name="adj" fmla="val 3816"/>
            </a:avLst>
          </a:prstGeom>
          <a:solidFill>
            <a:schemeClr val="accent6"/>
          </a:solidFill>
          <a:ln/>
        </p:spPr>
      </p:sp>
      <p:sp>
        <p:nvSpPr>
          <p:cNvPr id="19" name="Wire label"/>
          <p:cNvSpPr txBox="1"/>
          <p:nvPr/>
        </p:nvSpPr>
        <p:spPr>
          <a:xfrm>
            <a:off x="815188" y="4199039"/>
            <a:ext cx="2923337" cy="1198207"/>
          </a:xfrm>
          <a:prstGeom prst="rect">
            <a:avLst/>
          </a:prstGeom>
          <a:noFill/>
          <a:ln/>
        </p:spPr>
        <p:txBody>
          <a:bodyPr wrap="square" lIns="0" tIns="0" rIns="0" bIns="0" rtlCol="0" anchor="ctr"/>
          <a:lstStyle/>
          <a:p>
            <a:pPr algn="ctr" indent="0" marL="0">
              <a:buNone/>
            </a:pPr>
            <a:r>
              <a:rPr lang="en-US" sz="1000" b="1" dirty="0">
                <a:solidFill>
                  <a:schemeClr val="tx2"/>
                </a:solidFill>
              </a:rPr>
              <a:t>Donut chart</a:t>
            </a:r>
            <a:endParaRPr lang="en-US" sz="1000" dirty="0"/>
          </a:p>
          <a:p>
            <a:pPr algn="ctr" indent="0" marL="0">
              <a:buNone/>
            </a:pPr>
            <a:r>
              <a:rPr lang="en-US" sz="1000" b="1" dirty="0">
                <a:solidFill>
                  <a:schemeClr val="tx2"/>
                </a:solidFill>
              </a:rPr>
              <a:t>inspection_method</a:t>
            </a:r>
            <a:endParaRPr lang="en-US" sz="1000" dirty="0"/>
          </a:p>
        </p:txBody>
      </p:sp>
      <p:sp>
        <p:nvSpPr>
          <p:cNvPr id="20" name="Wire chart"/>
          <p:cNvSpPr/>
          <p:nvPr/>
        </p:nvSpPr>
        <p:spPr>
          <a:xfrm>
            <a:off x="4240416" y="4440784"/>
            <a:ext cx="2023567" cy="1074077"/>
          </a:xfrm>
          <a:prstGeom prst="roundRect">
            <a:avLst>
              <a:gd name="adj" fmla="val 4257"/>
            </a:avLst>
          </a:prstGeom>
          <a:solidFill>
            <a:schemeClr val="accent6"/>
          </a:solidFill>
          <a:ln/>
        </p:spPr>
      </p:sp>
      <p:sp>
        <p:nvSpPr>
          <p:cNvPr id="21" name="Wire label"/>
          <p:cNvSpPr txBox="1"/>
          <p:nvPr/>
        </p:nvSpPr>
        <p:spPr>
          <a:xfrm>
            <a:off x="4240416" y="4440784"/>
            <a:ext cx="2023567" cy="1074077"/>
          </a:xfrm>
          <a:prstGeom prst="rect">
            <a:avLst/>
          </a:prstGeom>
          <a:noFill/>
          <a:ln/>
        </p:spPr>
        <p:txBody>
          <a:bodyPr wrap="square" lIns="0" tIns="0" rIns="0" bIns="0" rtlCol="0" anchor="ctr"/>
          <a:lstStyle/>
          <a:p>
            <a:pPr algn="ctr" indent="0" marL="0">
              <a:buNone/>
            </a:pPr>
            <a:r>
              <a:rPr lang="en-US" sz="1000" b="1" dirty="0">
                <a:solidFill>
                  <a:schemeClr val="tx2"/>
                </a:solidFill>
              </a:rPr>
              <a:t>Column chart</a:t>
            </a:r>
            <a:endParaRPr lang="en-US" sz="1000" dirty="0"/>
          </a:p>
          <a:p>
            <a:pPr algn="ctr" indent="0" marL="0">
              <a:buNone/>
            </a:pPr>
            <a:r>
              <a:rPr lang="en-US" sz="1000" b="1" dirty="0">
                <a:solidFill>
                  <a:schemeClr val="tx2"/>
                </a:solidFill>
              </a:rPr>
              <a:t>defect_location</a:t>
            </a:r>
            <a:endParaRPr lang="en-US" sz="1000" dirty="0"/>
          </a:p>
        </p:txBody>
      </p:sp>
      <p:sp>
        <p:nvSpPr>
          <p:cNvPr id="22" name="Wire caption"/>
          <p:cNvSpPr txBox="1"/>
          <p:nvPr/>
        </p:nvSpPr>
        <p:spPr>
          <a:xfrm>
            <a:off x="548640" y="5669280"/>
            <a:ext cx="6583680" cy="274320"/>
          </a:xfrm>
          <a:prstGeom prst="rect">
            <a:avLst/>
          </a:prstGeom>
          <a:noFill/>
          <a:ln/>
        </p:spPr>
        <p:txBody>
          <a:bodyPr wrap="square" lIns="0" tIns="0" rIns="0" bIns="0" rtlCol="0" anchor="t"/>
          <a:lstStyle/>
          <a:p>
            <a:pPr indent="0" marL="0">
              <a:buNone/>
            </a:pPr>
            <a:r>
              <a:rPr lang="en-US" sz="1200" dirty="0">
                <a:solidFill>
                  <a:schemeClr val="accent4"/>
                </a:solidFill>
              </a:rPr>
              <a:t>Layout of the report page, drawn to scale</a:t>
            </a:r>
            <a:endParaRPr lang="en-US" sz="1200" dirty="0"/>
          </a:p>
        </p:txBody>
      </p:sp>
      <p:sp>
        <p:nvSpPr>
          <p:cNvPr id="23" name="KPI cards stat card"/>
          <p:cNvSpPr/>
          <p:nvPr/>
        </p:nvSpPr>
        <p:spPr>
          <a:xfrm>
            <a:off x="7589520" y="1828800"/>
            <a:ext cx="4023360" cy="1097280"/>
          </a:xfrm>
          <a:prstGeom prst="roundRect">
            <a:avLst>
              <a:gd name="adj" fmla="val 8333"/>
            </a:avLst>
          </a:prstGeom>
          <a:solidFill>
            <a:schemeClr val="bg1"/>
          </a:solidFill>
          <a:ln/>
          <a:effectLst>
            <a:outerShdw sx="100000" sy="100000" kx="0" ky="0" algn="bl" rotWithShape="0" blurRad="101600" dist="25400" dir="5400000">
              <a:srgbClr val="14183A">
                <a:alpha val="12000"/>
              </a:srgbClr>
            </a:outerShdw>
          </a:effectLst>
        </p:spPr>
      </p:sp>
      <p:sp>
        <p:nvSpPr>
          <p:cNvPr id="24" name="KPI cards number"/>
          <p:cNvSpPr txBox="1"/>
          <p:nvPr/>
        </p:nvSpPr>
        <p:spPr>
          <a:xfrm>
            <a:off x="7818120" y="1938528"/>
            <a:ext cx="731520" cy="868680"/>
          </a:xfrm>
          <a:prstGeom prst="rect">
            <a:avLst/>
          </a:prstGeom>
          <a:noFill/>
          <a:ln/>
        </p:spPr>
        <p:txBody>
          <a:bodyPr wrap="square" lIns="0" tIns="0" rIns="0" bIns="0" rtlCol="0" anchor="ctr"/>
          <a:lstStyle/>
          <a:p>
            <a:pPr indent="0" marL="0">
              <a:buNone/>
            </a:pPr>
            <a:r>
              <a:rPr lang="en-US" sz="4400" b="1" dirty="0">
                <a:solidFill>
                  <a:schemeClr val="accent2"/>
                </a:solidFill>
              </a:rPr>
              <a:t>2</a:t>
            </a:r>
            <a:endParaRPr lang="en-US" sz="4400" dirty="0"/>
          </a:p>
        </p:txBody>
      </p:sp>
      <p:sp>
        <p:nvSpPr>
          <p:cNvPr id="25" name="KPI cards label"/>
          <p:cNvSpPr txBox="1"/>
          <p:nvPr/>
        </p:nvSpPr>
        <p:spPr>
          <a:xfrm>
            <a:off x="8686800" y="2029968"/>
            <a:ext cx="2743200" cy="320040"/>
          </a:xfrm>
          <a:prstGeom prst="rect">
            <a:avLst/>
          </a:prstGeom>
          <a:noFill/>
          <a:ln/>
        </p:spPr>
        <p:txBody>
          <a:bodyPr wrap="square" lIns="0" tIns="0" rIns="0" bIns="0" rtlCol="0" anchor="t"/>
          <a:lstStyle/>
          <a:p>
            <a:pPr indent="0" marL="0">
              <a:buNone/>
            </a:pPr>
            <a:r>
              <a:rPr lang="en-US" sz="1800" b="1" dirty="0">
                <a:solidFill>
                  <a:schemeClr val="tx2"/>
                </a:solidFill>
              </a:rPr>
              <a:t>KPI cards</a:t>
            </a:r>
            <a:endParaRPr lang="en-US" sz="1800" dirty="0"/>
          </a:p>
        </p:txBody>
      </p:sp>
      <p:sp>
        <p:nvSpPr>
          <p:cNvPr id="26" name="KPI cards desc"/>
          <p:cNvSpPr txBox="1"/>
          <p:nvPr/>
        </p:nvSpPr>
        <p:spPr>
          <a:xfrm>
            <a:off x="8686800" y="2395728"/>
            <a:ext cx="2743200" cy="365760"/>
          </a:xfrm>
          <a:prstGeom prst="rect">
            <a:avLst/>
          </a:prstGeom>
          <a:noFill/>
          <a:ln/>
        </p:spPr>
        <p:txBody>
          <a:bodyPr wrap="square" lIns="0" tIns="0" rIns="0" bIns="0" rtlCol="0" anchor="t"/>
          <a:lstStyle/>
          <a:p>
            <a:pPr indent="0" marL="0">
              <a:buNone/>
            </a:pPr>
            <a:r>
              <a:rPr lang="en-US" sz="1400" dirty="0">
                <a:solidFill>
                  <a:schemeClr val="tx1"/>
                </a:solidFill>
              </a:rPr>
              <a:t>Total Defects and Total Repair Cost</a:t>
            </a:r>
            <a:endParaRPr lang="en-US" sz="1400" dirty="0"/>
          </a:p>
        </p:txBody>
      </p:sp>
      <p:sp>
        <p:nvSpPr>
          <p:cNvPr id="27" name="Charts stat card"/>
          <p:cNvSpPr/>
          <p:nvPr/>
        </p:nvSpPr>
        <p:spPr>
          <a:xfrm>
            <a:off x="7589520" y="3108960"/>
            <a:ext cx="4023360" cy="1097280"/>
          </a:xfrm>
          <a:prstGeom prst="roundRect">
            <a:avLst>
              <a:gd name="adj" fmla="val 8333"/>
            </a:avLst>
          </a:prstGeom>
          <a:solidFill>
            <a:schemeClr val="bg1"/>
          </a:solidFill>
          <a:ln/>
          <a:effectLst>
            <a:outerShdw sx="100000" sy="100000" kx="0" ky="0" algn="bl" rotWithShape="0" blurRad="101600" dist="25400" dir="5400000">
              <a:srgbClr val="14183A">
                <a:alpha val="12000"/>
              </a:srgbClr>
            </a:outerShdw>
          </a:effectLst>
        </p:spPr>
      </p:sp>
      <p:sp>
        <p:nvSpPr>
          <p:cNvPr id="28" name="Charts number"/>
          <p:cNvSpPr txBox="1"/>
          <p:nvPr/>
        </p:nvSpPr>
        <p:spPr>
          <a:xfrm>
            <a:off x="7818120" y="3218688"/>
            <a:ext cx="731520" cy="868680"/>
          </a:xfrm>
          <a:prstGeom prst="rect">
            <a:avLst/>
          </a:prstGeom>
          <a:noFill/>
          <a:ln/>
        </p:spPr>
        <p:txBody>
          <a:bodyPr wrap="square" lIns="0" tIns="0" rIns="0" bIns="0" rtlCol="0" anchor="ctr"/>
          <a:lstStyle/>
          <a:p>
            <a:pPr indent="0" marL="0">
              <a:buNone/>
            </a:pPr>
            <a:r>
              <a:rPr lang="en-US" sz="4400" b="1" dirty="0">
                <a:solidFill>
                  <a:schemeClr val="accent2"/>
                </a:solidFill>
              </a:rPr>
              <a:t>4</a:t>
            </a:r>
            <a:endParaRPr lang="en-US" sz="4400" dirty="0"/>
          </a:p>
        </p:txBody>
      </p:sp>
      <p:sp>
        <p:nvSpPr>
          <p:cNvPr id="29" name="Charts label"/>
          <p:cNvSpPr txBox="1"/>
          <p:nvPr/>
        </p:nvSpPr>
        <p:spPr>
          <a:xfrm>
            <a:off x="8686800" y="3310128"/>
            <a:ext cx="2743200" cy="320040"/>
          </a:xfrm>
          <a:prstGeom prst="rect">
            <a:avLst/>
          </a:prstGeom>
          <a:noFill/>
          <a:ln/>
        </p:spPr>
        <p:txBody>
          <a:bodyPr wrap="square" lIns="0" tIns="0" rIns="0" bIns="0" rtlCol="0" anchor="t"/>
          <a:lstStyle/>
          <a:p>
            <a:pPr indent="0" marL="0">
              <a:buNone/>
            </a:pPr>
            <a:r>
              <a:rPr lang="en-US" sz="1800" b="1" dirty="0">
                <a:solidFill>
                  <a:schemeClr val="tx2"/>
                </a:solidFill>
              </a:rPr>
              <a:t>Charts</a:t>
            </a:r>
            <a:endParaRPr lang="en-US" sz="1800" dirty="0"/>
          </a:p>
        </p:txBody>
      </p:sp>
      <p:sp>
        <p:nvSpPr>
          <p:cNvPr id="30" name="Charts desc"/>
          <p:cNvSpPr txBox="1"/>
          <p:nvPr/>
        </p:nvSpPr>
        <p:spPr>
          <a:xfrm>
            <a:off x="8686800" y="3675888"/>
            <a:ext cx="2743200" cy="365760"/>
          </a:xfrm>
          <a:prstGeom prst="rect">
            <a:avLst/>
          </a:prstGeom>
          <a:noFill/>
          <a:ln/>
        </p:spPr>
        <p:txBody>
          <a:bodyPr wrap="square" lIns="0" tIns="0" rIns="0" bIns="0" rtlCol="0" anchor="t"/>
          <a:lstStyle/>
          <a:p>
            <a:pPr indent="0" marL="0">
              <a:buNone/>
            </a:pPr>
            <a:r>
              <a:rPr lang="en-US" sz="1400" dirty="0">
                <a:solidFill>
                  <a:schemeClr val="tx1"/>
                </a:solidFill>
              </a:rPr>
              <a:t>Bar, pie, donut and column</a:t>
            </a:r>
            <a:endParaRPr lang="en-US" sz="1400" dirty="0"/>
          </a:p>
        </p:txBody>
      </p:sp>
      <p:sp>
        <p:nvSpPr>
          <p:cNvPr id="31" name="Slicers stat card"/>
          <p:cNvSpPr/>
          <p:nvPr/>
        </p:nvSpPr>
        <p:spPr>
          <a:xfrm>
            <a:off x="7589520" y="4389120"/>
            <a:ext cx="4023360" cy="1097280"/>
          </a:xfrm>
          <a:prstGeom prst="roundRect">
            <a:avLst>
              <a:gd name="adj" fmla="val 8333"/>
            </a:avLst>
          </a:prstGeom>
          <a:solidFill>
            <a:schemeClr val="bg1"/>
          </a:solidFill>
          <a:ln/>
          <a:effectLst>
            <a:outerShdw sx="100000" sy="100000" kx="0" ky="0" algn="bl" rotWithShape="0" blurRad="101600" dist="25400" dir="5400000">
              <a:srgbClr val="14183A">
                <a:alpha val="12000"/>
              </a:srgbClr>
            </a:outerShdw>
          </a:effectLst>
        </p:spPr>
      </p:sp>
      <p:sp>
        <p:nvSpPr>
          <p:cNvPr id="32" name="Slicers number"/>
          <p:cNvSpPr txBox="1"/>
          <p:nvPr/>
        </p:nvSpPr>
        <p:spPr>
          <a:xfrm>
            <a:off x="7818120" y="4498848"/>
            <a:ext cx="731520" cy="868680"/>
          </a:xfrm>
          <a:prstGeom prst="rect">
            <a:avLst/>
          </a:prstGeom>
          <a:noFill/>
          <a:ln/>
        </p:spPr>
        <p:txBody>
          <a:bodyPr wrap="square" lIns="0" tIns="0" rIns="0" bIns="0" rtlCol="0" anchor="ctr"/>
          <a:lstStyle/>
          <a:p>
            <a:pPr indent="0" marL="0">
              <a:buNone/>
            </a:pPr>
            <a:r>
              <a:rPr lang="en-US" sz="4400" b="1" dirty="0">
                <a:solidFill>
                  <a:schemeClr val="accent2"/>
                </a:solidFill>
              </a:rPr>
              <a:t>2</a:t>
            </a:r>
            <a:endParaRPr lang="en-US" sz="4400" dirty="0"/>
          </a:p>
        </p:txBody>
      </p:sp>
      <p:sp>
        <p:nvSpPr>
          <p:cNvPr id="33" name="Slicers label"/>
          <p:cNvSpPr txBox="1"/>
          <p:nvPr/>
        </p:nvSpPr>
        <p:spPr>
          <a:xfrm>
            <a:off x="8686800" y="4590288"/>
            <a:ext cx="2743200" cy="320040"/>
          </a:xfrm>
          <a:prstGeom prst="rect">
            <a:avLst/>
          </a:prstGeom>
          <a:noFill/>
          <a:ln/>
        </p:spPr>
        <p:txBody>
          <a:bodyPr wrap="square" lIns="0" tIns="0" rIns="0" bIns="0" rtlCol="0" anchor="t"/>
          <a:lstStyle/>
          <a:p>
            <a:pPr indent="0" marL="0">
              <a:buNone/>
            </a:pPr>
            <a:r>
              <a:rPr lang="en-US" sz="1800" b="1" dirty="0">
                <a:solidFill>
                  <a:schemeClr val="tx2"/>
                </a:solidFill>
              </a:rPr>
              <a:t>Slicers</a:t>
            </a:r>
            <a:endParaRPr lang="en-US" sz="1800" dirty="0"/>
          </a:p>
        </p:txBody>
      </p:sp>
      <p:sp>
        <p:nvSpPr>
          <p:cNvPr id="34" name="Slicers desc"/>
          <p:cNvSpPr txBox="1"/>
          <p:nvPr/>
        </p:nvSpPr>
        <p:spPr>
          <a:xfrm>
            <a:off x="8686800" y="4956048"/>
            <a:ext cx="2743200" cy="365760"/>
          </a:xfrm>
          <a:prstGeom prst="rect">
            <a:avLst/>
          </a:prstGeom>
          <a:noFill/>
          <a:ln/>
        </p:spPr>
        <p:txBody>
          <a:bodyPr wrap="square" lIns="0" tIns="0" rIns="0" bIns="0" rtlCol="0" anchor="t"/>
          <a:lstStyle/>
          <a:p>
            <a:pPr indent="0" marL="0">
              <a:buNone/>
            </a:pPr>
            <a:r>
              <a:rPr lang="en-US" sz="1400" dirty="0">
                <a:solidFill>
                  <a:schemeClr val="tx1"/>
                </a:solidFill>
              </a:rPr>
              <a:t>Severity and defect location</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KPI CARDS AND SLICERS</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tx2"/>
                </a:solidFill>
              </a:rPr>
              <a:t>Headline numbers, filtered your way</a:t>
            </a:r>
            <a:endParaRPr lang="en-US" sz="3400" dirty="0"/>
          </a:p>
        </p:txBody>
      </p:sp>
      <p:sp>
        <p:nvSpPr>
          <p:cNvPr id="4" name="Total Defects KPI"/>
          <p:cNvSpPr/>
          <p:nvPr/>
        </p:nvSpPr>
        <p:spPr>
          <a:xfrm>
            <a:off x="548640" y="1783080"/>
            <a:ext cx="5367528" cy="2103120"/>
          </a:xfrm>
          <a:prstGeom prst="roundRect">
            <a:avLst>
              <a:gd name="adj" fmla="val 4348"/>
            </a:avLst>
          </a:prstGeom>
          <a:solidFill>
            <a:schemeClr val="accent1"/>
          </a:solidFill>
          <a:ln/>
          <a:effectLst>
            <a:outerShdw sx="100000" sy="100000" kx="0" ky="0" algn="bl" rotWithShape="0" blurRad="101600" dist="25400" dir="5400000">
              <a:srgbClr val="14183A">
                <a:alpha val="12000"/>
              </a:srgbClr>
            </a:outerShdw>
          </a:effectLst>
        </p:spPr>
      </p:sp>
      <p:sp>
        <p:nvSpPr>
          <p:cNvPr id="5" name="Total Defects label"/>
          <p:cNvSpPr txBox="1"/>
          <p:nvPr/>
        </p:nvSpPr>
        <p:spPr>
          <a:xfrm>
            <a:off x="914400" y="1965960"/>
            <a:ext cx="4572000" cy="320040"/>
          </a:xfrm>
          <a:prstGeom prst="rect">
            <a:avLst/>
          </a:prstGeom>
          <a:noFill/>
          <a:ln/>
        </p:spPr>
        <p:txBody>
          <a:bodyPr wrap="square" lIns="0" tIns="0" rIns="0" bIns="0" rtlCol="0" anchor="t"/>
          <a:lstStyle/>
          <a:p>
            <a:pPr indent="0" marL="0">
              <a:buNone/>
            </a:pPr>
            <a:r>
              <a:rPr lang="en-US" sz="1600" dirty="0">
                <a:solidFill>
                  <a:schemeClr val="accent5"/>
                </a:solidFill>
              </a:rPr>
              <a:t>Total Defects</a:t>
            </a:r>
            <a:endParaRPr lang="en-US" sz="1600" dirty="0"/>
          </a:p>
        </p:txBody>
      </p:sp>
      <p:sp>
        <p:nvSpPr>
          <p:cNvPr id="6" name="Total Defects value"/>
          <p:cNvSpPr txBox="1"/>
          <p:nvPr/>
        </p:nvSpPr>
        <p:spPr>
          <a:xfrm>
            <a:off x="914400" y="2377440"/>
            <a:ext cx="4572000" cy="731520"/>
          </a:xfrm>
          <a:prstGeom prst="rect">
            <a:avLst/>
          </a:prstGeom>
          <a:noFill/>
          <a:ln/>
        </p:spPr>
        <p:txBody>
          <a:bodyPr wrap="square" lIns="0" tIns="0" rIns="0" bIns="0" rtlCol="0" anchor="ctr"/>
          <a:lstStyle/>
          <a:p>
            <a:pPr indent="0" marL="0">
              <a:buNone/>
            </a:pPr>
            <a:r>
              <a:rPr lang="en-US" sz="4400" b="1" dirty="0">
                <a:solidFill>
                  <a:schemeClr val="bg1"/>
                </a:solidFill>
              </a:rPr>
              <a:t>Sum </a:t>
            </a:r>
            <a:pPr indent="0" marL="0">
              <a:buNone/>
            </a:pPr>
            <a:r>
              <a:rPr lang="en-US" sz="1800" dirty="0">
                <a:solidFill>
                  <a:schemeClr val="accent5"/>
                </a:solidFill>
              </a:rPr>
              <a:t>of defect_id</a:t>
            </a:r>
            <a:endParaRPr lang="en-US" sz="4400" dirty="0"/>
          </a:p>
        </p:txBody>
      </p:sp>
      <p:sp>
        <p:nvSpPr>
          <p:cNvPr id="7" name="Total Defects desc"/>
          <p:cNvSpPr txBox="1"/>
          <p:nvPr/>
        </p:nvSpPr>
        <p:spPr>
          <a:xfrm>
            <a:off x="914400" y="3291840"/>
            <a:ext cx="4572000" cy="365760"/>
          </a:xfrm>
          <a:prstGeom prst="rect">
            <a:avLst/>
          </a:prstGeom>
          <a:noFill/>
          <a:ln/>
        </p:spPr>
        <p:txBody>
          <a:bodyPr wrap="square" lIns="0" tIns="0" rIns="0" bIns="0" rtlCol="0" anchor="t"/>
          <a:lstStyle/>
          <a:p>
            <a:pPr indent="0" marL="0">
              <a:buNone/>
            </a:pPr>
            <a:r>
              <a:rPr lang="en-US" sz="1400" dirty="0">
                <a:solidFill>
                  <a:schemeClr val="bg1"/>
                </a:solidFill>
              </a:rPr>
              <a:t>How many defects have been logged.</a:t>
            </a:r>
            <a:endParaRPr lang="en-US" sz="1400" dirty="0"/>
          </a:p>
        </p:txBody>
      </p:sp>
      <p:sp>
        <p:nvSpPr>
          <p:cNvPr id="8" name="Total Repair Cost KPI"/>
          <p:cNvSpPr/>
          <p:nvPr/>
        </p:nvSpPr>
        <p:spPr>
          <a:xfrm>
            <a:off x="6245352" y="1783080"/>
            <a:ext cx="5367528" cy="2103120"/>
          </a:xfrm>
          <a:prstGeom prst="roundRect">
            <a:avLst>
              <a:gd name="adj" fmla="val 4348"/>
            </a:avLst>
          </a:prstGeom>
          <a:solidFill>
            <a:schemeClr val="accent1"/>
          </a:solidFill>
          <a:ln/>
          <a:effectLst>
            <a:outerShdw sx="100000" sy="100000" kx="0" ky="0" algn="bl" rotWithShape="0" blurRad="101600" dist="25400" dir="5400000">
              <a:srgbClr val="14183A">
                <a:alpha val="12000"/>
              </a:srgbClr>
            </a:outerShdw>
          </a:effectLst>
        </p:spPr>
      </p:sp>
      <p:sp>
        <p:nvSpPr>
          <p:cNvPr id="9" name="Total Repair Cost label"/>
          <p:cNvSpPr txBox="1"/>
          <p:nvPr/>
        </p:nvSpPr>
        <p:spPr>
          <a:xfrm>
            <a:off x="6611112" y="1965960"/>
            <a:ext cx="4572000" cy="320040"/>
          </a:xfrm>
          <a:prstGeom prst="rect">
            <a:avLst/>
          </a:prstGeom>
          <a:noFill/>
          <a:ln/>
        </p:spPr>
        <p:txBody>
          <a:bodyPr wrap="square" lIns="0" tIns="0" rIns="0" bIns="0" rtlCol="0" anchor="t"/>
          <a:lstStyle/>
          <a:p>
            <a:pPr indent="0" marL="0">
              <a:buNone/>
            </a:pPr>
            <a:r>
              <a:rPr lang="en-US" sz="1600" dirty="0">
                <a:solidFill>
                  <a:schemeClr val="accent5"/>
                </a:solidFill>
              </a:rPr>
              <a:t>Total Repair Cost</a:t>
            </a:r>
            <a:endParaRPr lang="en-US" sz="1600" dirty="0"/>
          </a:p>
        </p:txBody>
      </p:sp>
      <p:sp>
        <p:nvSpPr>
          <p:cNvPr id="10" name="Total Repair Cost value"/>
          <p:cNvSpPr txBox="1"/>
          <p:nvPr/>
        </p:nvSpPr>
        <p:spPr>
          <a:xfrm>
            <a:off x="6611112" y="2377440"/>
            <a:ext cx="4572000" cy="731520"/>
          </a:xfrm>
          <a:prstGeom prst="rect">
            <a:avLst/>
          </a:prstGeom>
          <a:noFill/>
          <a:ln/>
        </p:spPr>
        <p:txBody>
          <a:bodyPr wrap="square" lIns="0" tIns="0" rIns="0" bIns="0" rtlCol="0" anchor="ctr"/>
          <a:lstStyle/>
          <a:p>
            <a:pPr indent="0" marL="0">
              <a:buNone/>
            </a:pPr>
            <a:r>
              <a:rPr lang="en-US" sz="4400" b="1" dirty="0">
                <a:solidFill>
                  <a:schemeClr val="bg1"/>
                </a:solidFill>
              </a:rPr>
              <a:t>Sum </a:t>
            </a:r>
            <a:pPr indent="0" marL="0">
              <a:buNone/>
            </a:pPr>
            <a:r>
              <a:rPr lang="en-US" sz="1800" dirty="0">
                <a:solidFill>
                  <a:schemeClr val="accent5"/>
                </a:solidFill>
              </a:rPr>
              <a:t>of repair_cost</a:t>
            </a:r>
            <a:endParaRPr lang="en-US" sz="4400" dirty="0"/>
          </a:p>
        </p:txBody>
      </p:sp>
      <p:sp>
        <p:nvSpPr>
          <p:cNvPr id="11" name="Total Repair Cost desc"/>
          <p:cNvSpPr txBox="1"/>
          <p:nvPr/>
        </p:nvSpPr>
        <p:spPr>
          <a:xfrm>
            <a:off x="6611112" y="3291840"/>
            <a:ext cx="4572000" cy="365760"/>
          </a:xfrm>
          <a:prstGeom prst="rect">
            <a:avLst/>
          </a:prstGeom>
          <a:noFill/>
          <a:ln/>
        </p:spPr>
        <p:txBody>
          <a:bodyPr wrap="square" lIns="0" tIns="0" rIns="0" bIns="0" rtlCol="0" anchor="t"/>
          <a:lstStyle/>
          <a:p>
            <a:pPr indent="0" marL="0">
              <a:buNone/>
            </a:pPr>
            <a:r>
              <a:rPr lang="en-US" sz="1400" dirty="0">
                <a:solidFill>
                  <a:schemeClr val="bg1"/>
                </a:solidFill>
              </a:rPr>
              <a:t>What it costs to repair them.</a:t>
            </a:r>
            <a:endParaRPr lang="en-US" sz="1400" dirty="0"/>
          </a:p>
        </p:txBody>
      </p:sp>
      <p:sp>
        <p:nvSpPr>
          <p:cNvPr id="12" name="Severity slicer card"/>
          <p:cNvSpPr/>
          <p:nvPr/>
        </p:nvSpPr>
        <p:spPr>
          <a:xfrm>
            <a:off x="548640" y="4206240"/>
            <a:ext cx="5367528" cy="1554480"/>
          </a:xfrm>
          <a:prstGeom prst="roundRect">
            <a:avLst>
              <a:gd name="adj" fmla="val 5882"/>
            </a:avLst>
          </a:prstGeom>
          <a:solidFill>
            <a:schemeClr val="bg1"/>
          </a:solidFill>
          <a:ln/>
          <a:effectLst>
            <a:outerShdw sx="100000" sy="100000" kx="0" ky="0" algn="bl" rotWithShape="0" blurRad="101600" dist="25400" dir="5400000">
              <a:srgbClr val="14183A">
                <a:alpha val="12000"/>
              </a:srgbClr>
            </a:outerShdw>
          </a:effectLst>
        </p:spPr>
      </p:sp>
      <p:sp>
        <p:nvSpPr>
          <p:cNvPr id="13" name="Severity slicer icon circle"/>
          <p:cNvSpPr/>
          <p:nvPr/>
        </p:nvSpPr>
        <p:spPr>
          <a:xfrm>
            <a:off x="868680" y="4572000"/>
            <a:ext cx="822960" cy="822960"/>
          </a:xfrm>
          <a:prstGeom prst="ellipse">
            <a:avLst/>
          </a:prstGeom>
          <a:solidFill>
            <a:schemeClr val="accent2"/>
          </a:solidFill>
          <a:ln/>
        </p:spPr>
      </p:sp>
      <p:pic>
        <p:nvPicPr>
          <p:cNvPr id="14" name="Severity slicer icon" descr="Severity slicer icon">    </p:cNvPr>
          <p:cNvPicPr>
            <a:picLocks noChangeAspect="1"/>
          </p:cNvPicPr>
          <p:nvPr/>
        </p:nvPicPr>
        <p:blipFill>
          <a:blip r:embed="rId1"/>
          <a:stretch>
            <a:fillRect/>
          </a:stretch>
        </p:blipFill>
        <p:spPr>
          <a:xfrm>
            <a:off x="1099109" y="4802429"/>
            <a:ext cx="362102" cy="362102"/>
          </a:xfrm>
          <a:prstGeom prst="rect">
            <a:avLst/>
          </a:prstGeom>
        </p:spPr>
      </p:pic>
      <p:sp>
        <p:nvSpPr>
          <p:cNvPr id="15" name="Severity slicer heading"/>
          <p:cNvSpPr txBox="1"/>
          <p:nvPr/>
        </p:nvSpPr>
        <p:spPr>
          <a:xfrm>
            <a:off x="1920240" y="4526280"/>
            <a:ext cx="3749040" cy="365760"/>
          </a:xfrm>
          <a:prstGeom prst="rect">
            <a:avLst/>
          </a:prstGeom>
          <a:noFill/>
          <a:ln/>
        </p:spPr>
        <p:txBody>
          <a:bodyPr wrap="square" lIns="0" tIns="0" rIns="0" bIns="0" rtlCol="0" anchor="t"/>
          <a:lstStyle/>
          <a:p>
            <a:pPr indent="0" marL="0">
              <a:buNone/>
            </a:pPr>
            <a:r>
              <a:rPr lang="en-US" sz="2000" b="1" dirty="0">
                <a:solidFill>
                  <a:schemeClr val="tx2"/>
                </a:solidFill>
              </a:rPr>
              <a:t>Severity slicer</a:t>
            </a:r>
            <a:endParaRPr lang="en-US" sz="2000" dirty="0"/>
          </a:p>
        </p:txBody>
      </p:sp>
      <p:sp>
        <p:nvSpPr>
          <p:cNvPr id="16" name="Severity slicer text"/>
          <p:cNvSpPr txBox="1"/>
          <p:nvPr/>
        </p:nvSpPr>
        <p:spPr>
          <a:xfrm>
            <a:off x="1920240" y="4937760"/>
            <a:ext cx="3749040" cy="640080"/>
          </a:xfrm>
          <a:prstGeom prst="rect">
            <a:avLst/>
          </a:prstGeom>
          <a:noFill/>
          <a:ln/>
        </p:spPr>
        <p:txBody>
          <a:bodyPr wrap="square" lIns="0" tIns="0" rIns="0" bIns="0" rtlCol="0" anchor="t"/>
          <a:lstStyle/>
          <a:p>
            <a:pPr indent="0" marL="0">
              <a:buNone/>
            </a:pPr>
            <a:r>
              <a:rPr lang="en-US" sz="1400" dirty="0">
                <a:solidFill>
                  <a:schemeClr val="tx1"/>
                </a:solidFill>
              </a:rPr>
              <a:t>Pick one or more severity levels. Every card and chart updates.</a:t>
            </a:r>
            <a:endParaRPr lang="en-US" sz="1400" dirty="0"/>
          </a:p>
        </p:txBody>
      </p:sp>
      <p:sp>
        <p:nvSpPr>
          <p:cNvPr id="17" name="Defect location slicer card"/>
          <p:cNvSpPr/>
          <p:nvPr/>
        </p:nvSpPr>
        <p:spPr>
          <a:xfrm>
            <a:off x="6245352" y="4206240"/>
            <a:ext cx="5367528" cy="1554480"/>
          </a:xfrm>
          <a:prstGeom prst="roundRect">
            <a:avLst>
              <a:gd name="adj" fmla="val 5882"/>
            </a:avLst>
          </a:prstGeom>
          <a:solidFill>
            <a:schemeClr val="bg1"/>
          </a:solidFill>
          <a:ln/>
          <a:effectLst>
            <a:outerShdw sx="100000" sy="100000" kx="0" ky="0" algn="bl" rotWithShape="0" blurRad="101600" dist="25400" dir="5400000">
              <a:srgbClr val="14183A">
                <a:alpha val="12000"/>
              </a:srgbClr>
            </a:outerShdw>
          </a:effectLst>
        </p:spPr>
      </p:sp>
      <p:sp>
        <p:nvSpPr>
          <p:cNvPr id="18" name="Defect location slicer icon circle"/>
          <p:cNvSpPr/>
          <p:nvPr/>
        </p:nvSpPr>
        <p:spPr>
          <a:xfrm>
            <a:off x="6565392" y="4572000"/>
            <a:ext cx="822960" cy="822960"/>
          </a:xfrm>
          <a:prstGeom prst="ellipse">
            <a:avLst/>
          </a:prstGeom>
          <a:solidFill>
            <a:schemeClr val="accent2"/>
          </a:solidFill>
          <a:ln/>
        </p:spPr>
      </p:sp>
      <p:pic>
        <p:nvPicPr>
          <p:cNvPr id="19" name="Defect location slicer icon" descr="Defect location slicer icon">    </p:cNvPr>
          <p:cNvPicPr>
            <a:picLocks noChangeAspect="1"/>
          </p:cNvPicPr>
          <p:nvPr/>
        </p:nvPicPr>
        <p:blipFill>
          <a:blip r:embed="rId2"/>
          <a:stretch>
            <a:fillRect/>
          </a:stretch>
        </p:blipFill>
        <p:spPr>
          <a:xfrm>
            <a:off x="6795821" y="4802429"/>
            <a:ext cx="362102" cy="362102"/>
          </a:xfrm>
          <a:prstGeom prst="rect">
            <a:avLst/>
          </a:prstGeom>
        </p:spPr>
      </p:pic>
      <p:sp>
        <p:nvSpPr>
          <p:cNvPr id="20" name="Defect location slicer heading"/>
          <p:cNvSpPr txBox="1"/>
          <p:nvPr/>
        </p:nvSpPr>
        <p:spPr>
          <a:xfrm>
            <a:off x="7616952" y="4526280"/>
            <a:ext cx="3749040" cy="365760"/>
          </a:xfrm>
          <a:prstGeom prst="rect">
            <a:avLst/>
          </a:prstGeom>
          <a:noFill/>
          <a:ln/>
        </p:spPr>
        <p:txBody>
          <a:bodyPr wrap="square" lIns="0" tIns="0" rIns="0" bIns="0" rtlCol="0" anchor="t"/>
          <a:lstStyle/>
          <a:p>
            <a:pPr indent="0" marL="0">
              <a:buNone/>
            </a:pPr>
            <a:r>
              <a:rPr lang="en-US" sz="2000" b="1" dirty="0">
                <a:solidFill>
                  <a:schemeClr val="tx2"/>
                </a:solidFill>
              </a:rPr>
              <a:t>Defect location slicer</a:t>
            </a:r>
            <a:endParaRPr lang="en-US" sz="2000" dirty="0"/>
          </a:p>
        </p:txBody>
      </p:sp>
      <p:sp>
        <p:nvSpPr>
          <p:cNvPr id="21" name="Defect location slicer text"/>
          <p:cNvSpPr txBox="1"/>
          <p:nvPr/>
        </p:nvSpPr>
        <p:spPr>
          <a:xfrm>
            <a:off x="7616952" y="4937760"/>
            <a:ext cx="3749040" cy="640080"/>
          </a:xfrm>
          <a:prstGeom prst="rect">
            <a:avLst/>
          </a:prstGeom>
          <a:noFill/>
          <a:ln/>
        </p:spPr>
        <p:txBody>
          <a:bodyPr wrap="square" lIns="0" tIns="0" rIns="0" bIns="0" rtlCol="0" anchor="t"/>
          <a:lstStyle/>
          <a:p>
            <a:pPr indent="0" marL="0">
              <a:buNone/>
            </a:pPr>
            <a:r>
              <a:rPr lang="en-US" sz="1400" dirty="0">
                <a:solidFill>
                  <a:schemeClr val="tx1"/>
                </a:solidFill>
              </a:rPr>
              <a:t>Pick where on the product to look. Every card and chart updates.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DEFECT BREAKDOWN</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tx2"/>
                </a:solidFill>
              </a:rPr>
              <a:t>How serious and what kind</a:t>
            </a:r>
            <a:endParaRPr lang="en-US" sz="3400" dirty="0"/>
          </a:p>
        </p:txBody>
      </p:sp>
      <p:sp>
        <p:nvSpPr>
          <p:cNvPr id="4" name="Defects by Severity card"/>
          <p:cNvSpPr/>
          <p:nvPr/>
        </p:nvSpPr>
        <p:spPr>
          <a:xfrm>
            <a:off x="548640" y="1783080"/>
            <a:ext cx="5367528" cy="3017520"/>
          </a:xfrm>
          <a:prstGeom prst="roundRect">
            <a:avLst>
              <a:gd name="adj" fmla="val 3030"/>
            </a:avLst>
          </a:prstGeom>
          <a:solidFill>
            <a:schemeClr val="bg1"/>
          </a:solidFill>
          <a:ln/>
          <a:effectLst>
            <a:outerShdw sx="100000" sy="100000" kx="0" ky="0" algn="bl" rotWithShape="0" blurRad="101600" dist="25400" dir="5400000">
              <a:srgbClr val="14183A">
                <a:alpha val="12000"/>
              </a:srgbClr>
            </a:outerShdw>
          </a:effectLst>
        </p:spPr>
      </p:sp>
      <p:sp>
        <p:nvSpPr>
          <p:cNvPr id="5" name="Defects by Severity icon circle"/>
          <p:cNvSpPr/>
          <p:nvPr/>
        </p:nvSpPr>
        <p:spPr>
          <a:xfrm>
            <a:off x="914400" y="2103120"/>
            <a:ext cx="822960" cy="822960"/>
          </a:xfrm>
          <a:prstGeom prst="ellipse">
            <a:avLst/>
          </a:prstGeom>
          <a:solidFill>
            <a:schemeClr val="accent1"/>
          </a:solidFill>
          <a:ln/>
        </p:spPr>
      </p:sp>
      <p:pic>
        <p:nvPicPr>
          <p:cNvPr id="6" name="Defects by Severity icon" descr="Defects by Severity icon">    </p:cNvPr>
          <p:cNvPicPr>
            <a:picLocks noChangeAspect="1"/>
          </p:cNvPicPr>
          <p:nvPr/>
        </p:nvPicPr>
        <p:blipFill>
          <a:blip r:embed="rId1"/>
          <a:stretch>
            <a:fillRect/>
          </a:stretch>
        </p:blipFill>
        <p:spPr>
          <a:xfrm>
            <a:off x="1144829" y="2333549"/>
            <a:ext cx="362102" cy="362102"/>
          </a:xfrm>
          <a:prstGeom prst="rect">
            <a:avLst/>
          </a:prstGeom>
        </p:spPr>
      </p:pic>
      <p:sp>
        <p:nvSpPr>
          <p:cNvPr id="7" name="Defects by Severity tag"/>
          <p:cNvSpPr txBox="1"/>
          <p:nvPr/>
        </p:nvSpPr>
        <p:spPr>
          <a:xfrm>
            <a:off x="914400" y="320040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BAR CHART</a:t>
            </a:r>
            <a:endParaRPr lang="en-US" sz="1200" dirty="0"/>
          </a:p>
        </p:txBody>
      </p:sp>
      <p:sp>
        <p:nvSpPr>
          <p:cNvPr id="8" name="Defects by Severity heading"/>
          <p:cNvSpPr txBox="1"/>
          <p:nvPr/>
        </p:nvSpPr>
        <p:spPr>
          <a:xfrm>
            <a:off x="914400" y="3520440"/>
            <a:ext cx="4572000" cy="411480"/>
          </a:xfrm>
          <a:prstGeom prst="rect">
            <a:avLst/>
          </a:prstGeom>
          <a:noFill/>
          <a:ln/>
        </p:spPr>
        <p:txBody>
          <a:bodyPr wrap="square" lIns="0" tIns="0" rIns="0" bIns="0" rtlCol="0" anchor="t"/>
          <a:lstStyle/>
          <a:p>
            <a:pPr indent="0" marL="0">
              <a:buNone/>
            </a:pPr>
            <a:r>
              <a:rPr lang="en-US" sz="2200" b="1" dirty="0">
                <a:solidFill>
                  <a:schemeClr val="tx2"/>
                </a:solidFill>
              </a:rPr>
              <a:t>Defects by Severity</a:t>
            </a:r>
            <a:endParaRPr lang="en-US" sz="2200" dirty="0"/>
          </a:p>
        </p:txBody>
      </p:sp>
      <p:sp>
        <p:nvSpPr>
          <p:cNvPr id="9" name="Defects by Severity text"/>
          <p:cNvSpPr txBox="1"/>
          <p:nvPr/>
        </p:nvSpPr>
        <p:spPr>
          <a:xfrm>
            <a:off x="914400" y="4023360"/>
            <a:ext cx="4663440" cy="914400"/>
          </a:xfrm>
          <a:prstGeom prst="rect">
            <a:avLst/>
          </a:prstGeom>
          <a:noFill/>
          <a:ln/>
        </p:spPr>
        <p:txBody>
          <a:bodyPr wrap="square" lIns="0" tIns="0" rIns="0" bIns="0" rtlCol="0" anchor="t"/>
          <a:lstStyle/>
          <a:p>
            <a:pPr indent="0" marL="0">
              <a:buNone/>
            </a:pPr>
            <a:r>
              <a:rPr lang="en-US" sz="1400" dirty="0">
                <a:solidFill>
                  <a:schemeClr val="tx1"/>
                </a:solidFill>
              </a:rPr>
              <a:t>Defects for each severity level, sorted from highest to lowest, so the most common level stands out first.</a:t>
            </a:r>
            <a:endParaRPr lang="en-US" sz="1400" dirty="0"/>
          </a:p>
        </p:txBody>
      </p:sp>
      <p:sp>
        <p:nvSpPr>
          <p:cNvPr id="10" name="Defects by Defect Type card"/>
          <p:cNvSpPr/>
          <p:nvPr/>
        </p:nvSpPr>
        <p:spPr>
          <a:xfrm>
            <a:off x="6245352" y="1783080"/>
            <a:ext cx="5367528" cy="3017520"/>
          </a:xfrm>
          <a:prstGeom prst="roundRect">
            <a:avLst>
              <a:gd name="adj" fmla="val 3030"/>
            </a:avLst>
          </a:prstGeom>
          <a:solidFill>
            <a:schemeClr val="bg1"/>
          </a:solidFill>
          <a:ln/>
          <a:effectLst>
            <a:outerShdw sx="100000" sy="100000" kx="0" ky="0" algn="bl" rotWithShape="0" blurRad="101600" dist="25400" dir="5400000">
              <a:srgbClr val="14183A">
                <a:alpha val="12000"/>
              </a:srgbClr>
            </a:outerShdw>
          </a:effectLst>
        </p:spPr>
      </p:sp>
      <p:sp>
        <p:nvSpPr>
          <p:cNvPr id="11" name="Defects by Defect Type icon circle"/>
          <p:cNvSpPr/>
          <p:nvPr/>
        </p:nvSpPr>
        <p:spPr>
          <a:xfrm>
            <a:off x="6611112" y="2103120"/>
            <a:ext cx="822960" cy="822960"/>
          </a:xfrm>
          <a:prstGeom prst="ellipse">
            <a:avLst/>
          </a:prstGeom>
          <a:solidFill>
            <a:schemeClr val="accent1"/>
          </a:solidFill>
          <a:ln/>
        </p:spPr>
      </p:sp>
      <p:pic>
        <p:nvPicPr>
          <p:cNvPr id="12" name="Defects by Defect Type icon" descr="Defects by Defect Type icon">    </p:cNvPr>
          <p:cNvPicPr>
            <a:picLocks noChangeAspect="1"/>
          </p:cNvPicPr>
          <p:nvPr/>
        </p:nvPicPr>
        <p:blipFill>
          <a:blip r:embed="rId2"/>
          <a:stretch>
            <a:fillRect/>
          </a:stretch>
        </p:blipFill>
        <p:spPr>
          <a:xfrm>
            <a:off x="6841541" y="2333549"/>
            <a:ext cx="362102" cy="362102"/>
          </a:xfrm>
          <a:prstGeom prst="rect">
            <a:avLst/>
          </a:prstGeom>
        </p:spPr>
      </p:pic>
      <p:sp>
        <p:nvSpPr>
          <p:cNvPr id="13" name="Defects by Defect Type tag"/>
          <p:cNvSpPr txBox="1"/>
          <p:nvPr/>
        </p:nvSpPr>
        <p:spPr>
          <a:xfrm>
            <a:off x="6611112" y="320040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PIE CHART</a:t>
            </a:r>
            <a:endParaRPr lang="en-US" sz="1200" dirty="0"/>
          </a:p>
        </p:txBody>
      </p:sp>
      <p:sp>
        <p:nvSpPr>
          <p:cNvPr id="14" name="Defects by Defect Type heading"/>
          <p:cNvSpPr txBox="1"/>
          <p:nvPr/>
        </p:nvSpPr>
        <p:spPr>
          <a:xfrm>
            <a:off x="6611112" y="3520440"/>
            <a:ext cx="4572000" cy="411480"/>
          </a:xfrm>
          <a:prstGeom prst="rect">
            <a:avLst/>
          </a:prstGeom>
          <a:noFill/>
          <a:ln/>
        </p:spPr>
        <p:txBody>
          <a:bodyPr wrap="square" lIns="0" tIns="0" rIns="0" bIns="0" rtlCol="0" anchor="t"/>
          <a:lstStyle/>
          <a:p>
            <a:pPr indent="0" marL="0">
              <a:buNone/>
            </a:pPr>
            <a:r>
              <a:rPr lang="en-US" sz="2200" b="1" dirty="0">
                <a:solidFill>
                  <a:schemeClr val="tx2"/>
                </a:solidFill>
              </a:rPr>
              <a:t>Defects by Defect Type</a:t>
            </a:r>
            <a:endParaRPr lang="en-US" sz="2200" dirty="0"/>
          </a:p>
        </p:txBody>
      </p:sp>
      <p:sp>
        <p:nvSpPr>
          <p:cNvPr id="15" name="Defects by Defect Type text"/>
          <p:cNvSpPr txBox="1"/>
          <p:nvPr/>
        </p:nvSpPr>
        <p:spPr>
          <a:xfrm>
            <a:off x="6611112" y="4023360"/>
            <a:ext cx="4663440" cy="914400"/>
          </a:xfrm>
          <a:prstGeom prst="rect">
            <a:avLst/>
          </a:prstGeom>
          <a:noFill/>
          <a:ln/>
        </p:spPr>
        <p:txBody>
          <a:bodyPr wrap="square" lIns="0" tIns="0" rIns="0" bIns="0" rtlCol="0" anchor="t"/>
          <a:lstStyle/>
          <a:p>
            <a:pPr indent="0" marL="0">
              <a:buNone/>
            </a:pPr>
            <a:r>
              <a:rPr lang="en-US" sz="1400" dirty="0">
                <a:solidFill>
                  <a:schemeClr val="tx1"/>
                </a:solidFill>
              </a:rPr>
              <a:t>Each defect type's share of all defects, showing which kinds of problem make up most of the total.</a:t>
            </a:r>
            <a:endParaRPr lang="en-US" sz="1400" dirty="0"/>
          </a:p>
        </p:txBody>
      </p:sp>
      <p:sp>
        <p:nvSpPr>
          <p:cNvPr id="16" name="Takeaway"/>
          <p:cNvSpPr txBox="1"/>
          <p:nvPr/>
        </p:nvSpPr>
        <p:spPr>
          <a:xfrm>
            <a:off x="548640" y="5120640"/>
            <a:ext cx="11064240" cy="365760"/>
          </a:xfrm>
          <a:prstGeom prst="rect">
            <a:avLst/>
          </a:prstGeom>
          <a:noFill/>
          <a:ln/>
        </p:spPr>
        <p:txBody>
          <a:bodyPr wrap="square" lIns="0" tIns="0" rIns="0" bIns="0" rtlCol="0" anchor="t"/>
          <a:lstStyle/>
          <a:p>
            <a:pPr indent="0" marL="0">
              <a:buNone/>
            </a:pPr>
            <a:r>
              <a:rPr lang="en-US" sz="1400" dirty="0">
                <a:solidFill>
                  <a:schemeClr val="accent4"/>
                </a:solidFill>
              </a:rPr>
              <a:t>Together they show which problems are most serious and which are most common.</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DEFECT SOURCES</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tx2"/>
                </a:solidFill>
              </a:rPr>
              <a:t>Where and how defects are found</a:t>
            </a:r>
            <a:endParaRPr lang="en-US" sz="3400" dirty="0"/>
          </a:p>
        </p:txBody>
      </p:sp>
      <p:sp>
        <p:nvSpPr>
          <p:cNvPr id="4" name="Defects by Location row"/>
          <p:cNvSpPr/>
          <p:nvPr/>
        </p:nvSpPr>
        <p:spPr>
          <a:xfrm>
            <a:off x="548640" y="1783080"/>
            <a:ext cx="11064240" cy="1600200"/>
          </a:xfrm>
          <a:prstGeom prst="roundRect">
            <a:avLst>
              <a:gd name="adj" fmla="val 5714"/>
            </a:avLst>
          </a:prstGeom>
          <a:solidFill>
            <a:schemeClr val="bg1"/>
          </a:solidFill>
          <a:ln/>
          <a:effectLst>
            <a:outerShdw sx="100000" sy="100000" kx="0" ky="0" algn="bl" rotWithShape="0" blurRad="101600" dist="25400" dir="5400000">
              <a:srgbClr val="14183A">
                <a:alpha val="12000"/>
              </a:srgbClr>
            </a:outerShdw>
          </a:effectLst>
        </p:spPr>
      </p:sp>
      <p:sp>
        <p:nvSpPr>
          <p:cNvPr id="5" name="Defects by Location icon circle"/>
          <p:cNvSpPr/>
          <p:nvPr/>
        </p:nvSpPr>
        <p:spPr>
          <a:xfrm>
            <a:off x="914400" y="2194560"/>
            <a:ext cx="777240" cy="777240"/>
          </a:xfrm>
          <a:prstGeom prst="ellipse">
            <a:avLst/>
          </a:prstGeom>
          <a:solidFill>
            <a:schemeClr val="accent1"/>
          </a:solidFill>
          <a:ln/>
        </p:spPr>
      </p:sp>
      <p:pic>
        <p:nvPicPr>
          <p:cNvPr id="6" name="Defects by Location icon" descr="Defects by Location icon">    </p:cNvPr>
          <p:cNvPicPr>
            <a:picLocks noChangeAspect="1"/>
          </p:cNvPicPr>
          <p:nvPr/>
        </p:nvPicPr>
        <p:blipFill>
          <a:blip r:embed="rId1"/>
          <a:stretch>
            <a:fillRect/>
          </a:stretch>
        </p:blipFill>
        <p:spPr>
          <a:xfrm>
            <a:off x="1132027" y="2412187"/>
            <a:ext cx="341986" cy="341986"/>
          </a:xfrm>
          <a:prstGeom prst="rect">
            <a:avLst/>
          </a:prstGeom>
        </p:spPr>
      </p:pic>
      <p:sp>
        <p:nvSpPr>
          <p:cNvPr id="7" name="Defects by Location heading"/>
          <p:cNvSpPr txBox="1"/>
          <p:nvPr/>
        </p:nvSpPr>
        <p:spPr>
          <a:xfrm>
            <a:off x="2011680" y="2057400"/>
            <a:ext cx="6583680" cy="411480"/>
          </a:xfrm>
          <a:prstGeom prst="rect">
            <a:avLst/>
          </a:prstGeom>
          <a:noFill/>
          <a:ln/>
        </p:spPr>
        <p:txBody>
          <a:bodyPr wrap="square" lIns="0" tIns="0" rIns="0" bIns="0" rtlCol="0" anchor="t"/>
          <a:lstStyle/>
          <a:p>
            <a:pPr indent="0" marL="0">
              <a:buNone/>
            </a:pPr>
            <a:r>
              <a:rPr lang="en-US" sz="2200" b="1" dirty="0">
                <a:solidFill>
                  <a:schemeClr val="tx2"/>
                </a:solidFill>
              </a:rPr>
              <a:t>Defects by Location</a:t>
            </a:r>
            <a:endParaRPr lang="en-US" sz="2200" dirty="0"/>
          </a:p>
        </p:txBody>
      </p:sp>
      <p:sp>
        <p:nvSpPr>
          <p:cNvPr id="8" name="Defects by Location text"/>
          <p:cNvSpPr txBox="1"/>
          <p:nvPr/>
        </p:nvSpPr>
        <p:spPr>
          <a:xfrm>
            <a:off x="2011680" y="2560320"/>
            <a:ext cx="6766560" cy="640080"/>
          </a:xfrm>
          <a:prstGeom prst="rect">
            <a:avLst/>
          </a:prstGeom>
          <a:noFill/>
          <a:ln/>
        </p:spPr>
        <p:txBody>
          <a:bodyPr wrap="square" lIns="0" tIns="0" rIns="0" bIns="0" rtlCol="0" anchor="t"/>
          <a:lstStyle/>
          <a:p>
            <a:pPr indent="0" marL="0">
              <a:buNone/>
            </a:pPr>
            <a:r>
              <a:rPr lang="en-US" sz="1400" dirty="0">
                <a:solidFill>
                  <a:schemeClr val="tx1"/>
                </a:solidFill>
              </a:rPr>
              <a:t>Compares the number of defects at each location on the product. The defect location slicer focuses it.</a:t>
            </a:r>
            <a:endParaRPr lang="en-US" sz="1400" dirty="0"/>
          </a:p>
        </p:txBody>
      </p:sp>
      <p:sp>
        <p:nvSpPr>
          <p:cNvPr id="9" name="Defects by Location pill"/>
          <p:cNvSpPr/>
          <p:nvPr/>
        </p:nvSpPr>
        <p:spPr>
          <a:xfrm>
            <a:off x="9144000" y="2331720"/>
            <a:ext cx="2103120" cy="457200"/>
          </a:xfrm>
          <a:prstGeom prst="roundRect">
            <a:avLst>
              <a:gd name="adj" fmla="val 50000"/>
            </a:avLst>
          </a:prstGeom>
          <a:solidFill>
            <a:schemeClr val="accent6"/>
          </a:solidFill>
          <a:ln/>
        </p:spPr>
      </p:sp>
      <p:sp>
        <p:nvSpPr>
          <p:cNvPr id="10" name="Defects by Location pill text"/>
          <p:cNvSpPr txBox="1"/>
          <p:nvPr/>
        </p:nvSpPr>
        <p:spPr>
          <a:xfrm>
            <a:off x="9144000" y="2331720"/>
            <a:ext cx="2103120" cy="457200"/>
          </a:xfrm>
          <a:prstGeom prst="rect">
            <a:avLst/>
          </a:prstGeom>
          <a:noFill/>
          <a:ln/>
        </p:spPr>
        <p:txBody>
          <a:bodyPr wrap="square" lIns="0" tIns="0" rIns="0" bIns="0" rtlCol="0" anchor="ctr"/>
          <a:lstStyle/>
          <a:p>
            <a:pPr algn="ctr" indent="0" marL="0">
              <a:buNone/>
            </a:pPr>
            <a:r>
              <a:rPr lang="en-US" sz="1200" b="1" spc="100" kern="0" dirty="0">
                <a:solidFill>
                  <a:schemeClr val="tx2"/>
                </a:solidFill>
              </a:rPr>
              <a:t>COLUMN CHART</a:t>
            </a:r>
            <a:endParaRPr lang="en-US" sz="1200" dirty="0"/>
          </a:p>
        </p:txBody>
      </p:sp>
      <p:sp>
        <p:nvSpPr>
          <p:cNvPr id="11" name="Defects by Inspection Method row"/>
          <p:cNvSpPr/>
          <p:nvPr/>
        </p:nvSpPr>
        <p:spPr>
          <a:xfrm>
            <a:off x="548640" y="3611880"/>
            <a:ext cx="11064240" cy="1600200"/>
          </a:xfrm>
          <a:prstGeom prst="roundRect">
            <a:avLst>
              <a:gd name="adj" fmla="val 5714"/>
            </a:avLst>
          </a:prstGeom>
          <a:solidFill>
            <a:schemeClr val="bg1"/>
          </a:solidFill>
          <a:ln/>
          <a:effectLst>
            <a:outerShdw sx="100000" sy="100000" kx="0" ky="0" algn="bl" rotWithShape="0" blurRad="101600" dist="25400" dir="5400000">
              <a:srgbClr val="14183A">
                <a:alpha val="12000"/>
              </a:srgbClr>
            </a:outerShdw>
          </a:effectLst>
        </p:spPr>
      </p:sp>
      <p:sp>
        <p:nvSpPr>
          <p:cNvPr id="12" name="Defects by Inspection Method icon circle"/>
          <p:cNvSpPr/>
          <p:nvPr/>
        </p:nvSpPr>
        <p:spPr>
          <a:xfrm>
            <a:off x="914400" y="4023360"/>
            <a:ext cx="777240" cy="777240"/>
          </a:xfrm>
          <a:prstGeom prst="ellipse">
            <a:avLst/>
          </a:prstGeom>
          <a:solidFill>
            <a:schemeClr val="accent1"/>
          </a:solidFill>
          <a:ln/>
        </p:spPr>
      </p:sp>
      <p:pic>
        <p:nvPicPr>
          <p:cNvPr id="13" name="Defects by Inspection Method icon" descr="Defects by Inspection Method icon">    </p:cNvPr>
          <p:cNvPicPr>
            <a:picLocks noChangeAspect="1"/>
          </p:cNvPicPr>
          <p:nvPr/>
        </p:nvPicPr>
        <p:blipFill>
          <a:blip r:embed="rId2"/>
          <a:stretch>
            <a:fillRect/>
          </a:stretch>
        </p:blipFill>
        <p:spPr>
          <a:xfrm>
            <a:off x="1132027" y="4240987"/>
            <a:ext cx="341986" cy="341986"/>
          </a:xfrm>
          <a:prstGeom prst="rect">
            <a:avLst/>
          </a:prstGeom>
        </p:spPr>
      </p:pic>
      <p:sp>
        <p:nvSpPr>
          <p:cNvPr id="14" name="Defects by Inspection Method heading"/>
          <p:cNvSpPr txBox="1"/>
          <p:nvPr/>
        </p:nvSpPr>
        <p:spPr>
          <a:xfrm>
            <a:off x="2011680" y="3886200"/>
            <a:ext cx="6583680" cy="411480"/>
          </a:xfrm>
          <a:prstGeom prst="rect">
            <a:avLst/>
          </a:prstGeom>
          <a:noFill/>
          <a:ln/>
        </p:spPr>
        <p:txBody>
          <a:bodyPr wrap="square" lIns="0" tIns="0" rIns="0" bIns="0" rtlCol="0" anchor="t"/>
          <a:lstStyle/>
          <a:p>
            <a:pPr indent="0" marL="0">
              <a:buNone/>
            </a:pPr>
            <a:r>
              <a:rPr lang="en-US" sz="2200" b="1" dirty="0">
                <a:solidFill>
                  <a:schemeClr val="tx2"/>
                </a:solidFill>
              </a:rPr>
              <a:t>Defects by Inspection Method</a:t>
            </a:r>
            <a:endParaRPr lang="en-US" sz="2200" dirty="0"/>
          </a:p>
        </p:txBody>
      </p:sp>
      <p:sp>
        <p:nvSpPr>
          <p:cNvPr id="15" name="Defects by Inspection Method text"/>
          <p:cNvSpPr txBox="1"/>
          <p:nvPr/>
        </p:nvSpPr>
        <p:spPr>
          <a:xfrm>
            <a:off x="2011680" y="4389120"/>
            <a:ext cx="6766560" cy="640080"/>
          </a:xfrm>
          <a:prstGeom prst="rect">
            <a:avLst/>
          </a:prstGeom>
          <a:noFill/>
          <a:ln/>
        </p:spPr>
        <p:txBody>
          <a:bodyPr wrap="square" lIns="0" tIns="0" rIns="0" bIns="0" rtlCol="0" anchor="t"/>
          <a:lstStyle/>
          <a:p>
            <a:pPr indent="0" marL="0">
              <a:buNone/>
            </a:pPr>
            <a:r>
              <a:rPr lang="en-US" sz="1400" dirty="0">
                <a:solidFill>
                  <a:schemeClr val="tx1"/>
                </a:solidFill>
              </a:rPr>
              <a:t>Shows the share of defects caught by each inspection method, so you can see which checks do the work.</a:t>
            </a:r>
            <a:endParaRPr lang="en-US" sz="1400" dirty="0"/>
          </a:p>
        </p:txBody>
      </p:sp>
      <p:sp>
        <p:nvSpPr>
          <p:cNvPr id="16" name="Defects by Inspection Method pill"/>
          <p:cNvSpPr/>
          <p:nvPr/>
        </p:nvSpPr>
        <p:spPr>
          <a:xfrm>
            <a:off x="9144000" y="4160520"/>
            <a:ext cx="2103120" cy="457200"/>
          </a:xfrm>
          <a:prstGeom prst="roundRect">
            <a:avLst>
              <a:gd name="adj" fmla="val 50000"/>
            </a:avLst>
          </a:prstGeom>
          <a:solidFill>
            <a:schemeClr val="accent6"/>
          </a:solidFill>
          <a:ln/>
        </p:spPr>
      </p:sp>
      <p:sp>
        <p:nvSpPr>
          <p:cNvPr id="17" name="Defects by Inspection Method pill text"/>
          <p:cNvSpPr txBox="1"/>
          <p:nvPr/>
        </p:nvSpPr>
        <p:spPr>
          <a:xfrm>
            <a:off x="9144000" y="4160520"/>
            <a:ext cx="2103120" cy="457200"/>
          </a:xfrm>
          <a:prstGeom prst="rect">
            <a:avLst/>
          </a:prstGeom>
          <a:noFill/>
          <a:ln/>
        </p:spPr>
        <p:txBody>
          <a:bodyPr wrap="square" lIns="0" tIns="0" rIns="0" bIns="0" rtlCol="0" anchor="ctr"/>
          <a:lstStyle/>
          <a:p>
            <a:pPr algn="ctr" indent="0" marL="0">
              <a:buNone/>
            </a:pPr>
            <a:r>
              <a:rPr lang="en-US" sz="1200" b="1" spc="100" kern="0" dirty="0">
                <a:solidFill>
                  <a:schemeClr val="tx2"/>
                </a:solidFill>
              </a:rPr>
              <a:t>DONUT CHART</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BUSINESS VALUE</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bg1"/>
                </a:solidFill>
              </a:rPr>
              <a:t>Questions the dashboard answers</a:t>
            </a:r>
            <a:endParaRPr lang="en-US" sz="3400" dirty="0"/>
          </a:p>
        </p:txBody>
      </p:sp>
      <p:sp>
        <p:nvSpPr>
          <p:cNvPr id="4" name="Question 1 card"/>
          <p:cNvSpPr/>
          <p:nvPr/>
        </p:nvSpPr>
        <p:spPr>
          <a:xfrm>
            <a:off x="548640" y="1828800"/>
            <a:ext cx="5367528" cy="1554480"/>
          </a:xfrm>
          <a:prstGeom prst="roundRect">
            <a:avLst>
              <a:gd name="adj" fmla="val 5882"/>
            </a:avLst>
          </a:prstGeom>
          <a:solidFill>
            <a:schemeClr val="accent3"/>
          </a:solidFill>
          <a:ln/>
          <a:effectLst>
            <a:outerShdw sx="100000" sy="100000" kx="0" ky="0" algn="bl" rotWithShape="0" blurRad="101600" dist="25400" dir="5400000">
              <a:srgbClr val="14183A">
                <a:alpha val="12000"/>
              </a:srgbClr>
            </a:outerShdw>
          </a:effectLst>
        </p:spPr>
      </p:sp>
      <p:sp>
        <p:nvSpPr>
          <p:cNvPr id="5" name="Question 1 number"/>
          <p:cNvSpPr txBox="1"/>
          <p:nvPr/>
        </p:nvSpPr>
        <p:spPr>
          <a:xfrm>
            <a:off x="914400" y="2103120"/>
            <a:ext cx="914400" cy="320040"/>
          </a:xfrm>
          <a:prstGeom prst="rect">
            <a:avLst/>
          </a:prstGeom>
          <a:noFill/>
          <a:ln/>
        </p:spPr>
        <p:txBody>
          <a:bodyPr wrap="square" lIns="0" tIns="0" rIns="0" bIns="0" rtlCol="0" anchor="t"/>
          <a:lstStyle/>
          <a:p>
            <a:pPr indent="0" marL="0">
              <a:buNone/>
            </a:pPr>
            <a:r>
              <a:rPr lang="en-US" sz="1400" b="1" dirty="0">
                <a:solidFill>
                  <a:schemeClr val="accent5"/>
                </a:solidFill>
              </a:rPr>
              <a:t>01</a:t>
            </a:r>
            <a:endParaRPr lang="en-US" sz="1400" dirty="0"/>
          </a:p>
        </p:txBody>
      </p:sp>
      <p:sp>
        <p:nvSpPr>
          <p:cNvPr id="6" name="Question 1 text"/>
          <p:cNvSpPr txBox="1"/>
          <p:nvPr/>
        </p:nvSpPr>
        <p:spPr>
          <a:xfrm>
            <a:off x="914400" y="2514600"/>
            <a:ext cx="4663440" cy="731520"/>
          </a:xfrm>
          <a:prstGeom prst="rect">
            <a:avLst/>
          </a:prstGeom>
          <a:noFill/>
          <a:ln/>
        </p:spPr>
        <p:txBody>
          <a:bodyPr wrap="square" lIns="0" tIns="0" rIns="0" bIns="0" rtlCol="0" anchor="t"/>
          <a:lstStyle/>
          <a:p>
            <a:pPr indent="0" marL="0">
              <a:buNone/>
            </a:pPr>
            <a:r>
              <a:rPr lang="en-US" sz="1800" dirty="0">
                <a:solidFill>
                  <a:schemeClr val="bg1"/>
                </a:solidFill>
              </a:rPr>
              <a:t>How many defects are logged, and what do they cost to repair?</a:t>
            </a:r>
            <a:endParaRPr lang="en-US" sz="1800" dirty="0"/>
          </a:p>
        </p:txBody>
      </p:sp>
      <p:sp>
        <p:nvSpPr>
          <p:cNvPr id="7" name="Question 2 card"/>
          <p:cNvSpPr/>
          <p:nvPr/>
        </p:nvSpPr>
        <p:spPr>
          <a:xfrm>
            <a:off x="6245352" y="1828800"/>
            <a:ext cx="5367528" cy="1554480"/>
          </a:xfrm>
          <a:prstGeom prst="roundRect">
            <a:avLst>
              <a:gd name="adj" fmla="val 5882"/>
            </a:avLst>
          </a:prstGeom>
          <a:solidFill>
            <a:schemeClr val="accent3"/>
          </a:solidFill>
          <a:ln/>
          <a:effectLst>
            <a:outerShdw sx="100000" sy="100000" kx="0" ky="0" algn="bl" rotWithShape="0" blurRad="101600" dist="25400" dir="5400000">
              <a:srgbClr val="14183A">
                <a:alpha val="12000"/>
              </a:srgbClr>
            </a:outerShdw>
          </a:effectLst>
        </p:spPr>
      </p:sp>
      <p:sp>
        <p:nvSpPr>
          <p:cNvPr id="8" name="Question 2 number"/>
          <p:cNvSpPr txBox="1"/>
          <p:nvPr/>
        </p:nvSpPr>
        <p:spPr>
          <a:xfrm>
            <a:off x="6611112" y="2103120"/>
            <a:ext cx="914400" cy="320040"/>
          </a:xfrm>
          <a:prstGeom prst="rect">
            <a:avLst/>
          </a:prstGeom>
          <a:noFill/>
          <a:ln/>
        </p:spPr>
        <p:txBody>
          <a:bodyPr wrap="square" lIns="0" tIns="0" rIns="0" bIns="0" rtlCol="0" anchor="t"/>
          <a:lstStyle/>
          <a:p>
            <a:pPr indent="0" marL="0">
              <a:buNone/>
            </a:pPr>
            <a:r>
              <a:rPr lang="en-US" sz="1400" b="1" dirty="0">
                <a:solidFill>
                  <a:schemeClr val="accent5"/>
                </a:solidFill>
              </a:rPr>
              <a:t>02</a:t>
            </a:r>
            <a:endParaRPr lang="en-US" sz="1400" dirty="0"/>
          </a:p>
        </p:txBody>
      </p:sp>
      <p:sp>
        <p:nvSpPr>
          <p:cNvPr id="9" name="Question 2 text"/>
          <p:cNvSpPr txBox="1"/>
          <p:nvPr/>
        </p:nvSpPr>
        <p:spPr>
          <a:xfrm>
            <a:off x="6611112" y="2514600"/>
            <a:ext cx="4663440" cy="731520"/>
          </a:xfrm>
          <a:prstGeom prst="rect">
            <a:avLst/>
          </a:prstGeom>
          <a:noFill/>
          <a:ln/>
        </p:spPr>
        <p:txBody>
          <a:bodyPr wrap="square" lIns="0" tIns="0" rIns="0" bIns="0" rtlCol="0" anchor="t"/>
          <a:lstStyle/>
          <a:p>
            <a:pPr indent="0" marL="0">
              <a:buNone/>
            </a:pPr>
            <a:r>
              <a:rPr lang="en-US" sz="1800" dirty="0">
                <a:solidFill>
                  <a:schemeClr val="bg1"/>
                </a:solidFill>
              </a:rPr>
              <a:t>Which severity levels and defect types are most common?</a:t>
            </a:r>
            <a:endParaRPr lang="en-US" sz="1800" dirty="0"/>
          </a:p>
        </p:txBody>
      </p:sp>
      <p:sp>
        <p:nvSpPr>
          <p:cNvPr id="10" name="Question 3 card"/>
          <p:cNvSpPr/>
          <p:nvPr/>
        </p:nvSpPr>
        <p:spPr>
          <a:xfrm>
            <a:off x="548640" y="3657600"/>
            <a:ext cx="5367528" cy="1554480"/>
          </a:xfrm>
          <a:prstGeom prst="roundRect">
            <a:avLst>
              <a:gd name="adj" fmla="val 5882"/>
            </a:avLst>
          </a:prstGeom>
          <a:solidFill>
            <a:schemeClr val="accent3"/>
          </a:solidFill>
          <a:ln/>
          <a:effectLst>
            <a:outerShdw sx="100000" sy="100000" kx="0" ky="0" algn="bl" rotWithShape="0" blurRad="101600" dist="25400" dir="5400000">
              <a:srgbClr val="14183A">
                <a:alpha val="12000"/>
              </a:srgbClr>
            </a:outerShdw>
          </a:effectLst>
        </p:spPr>
      </p:sp>
      <p:sp>
        <p:nvSpPr>
          <p:cNvPr id="11" name="Question 3 number"/>
          <p:cNvSpPr txBox="1"/>
          <p:nvPr/>
        </p:nvSpPr>
        <p:spPr>
          <a:xfrm>
            <a:off x="914400" y="3931920"/>
            <a:ext cx="914400" cy="320040"/>
          </a:xfrm>
          <a:prstGeom prst="rect">
            <a:avLst/>
          </a:prstGeom>
          <a:noFill/>
          <a:ln/>
        </p:spPr>
        <p:txBody>
          <a:bodyPr wrap="square" lIns="0" tIns="0" rIns="0" bIns="0" rtlCol="0" anchor="t"/>
          <a:lstStyle/>
          <a:p>
            <a:pPr indent="0" marL="0">
              <a:buNone/>
            </a:pPr>
            <a:r>
              <a:rPr lang="en-US" sz="1400" b="1" dirty="0">
                <a:solidFill>
                  <a:schemeClr val="accent5"/>
                </a:solidFill>
              </a:rPr>
              <a:t>03</a:t>
            </a:r>
            <a:endParaRPr lang="en-US" sz="1400" dirty="0"/>
          </a:p>
        </p:txBody>
      </p:sp>
      <p:sp>
        <p:nvSpPr>
          <p:cNvPr id="12" name="Question 3 text"/>
          <p:cNvSpPr txBox="1"/>
          <p:nvPr/>
        </p:nvSpPr>
        <p:spPr>
          <a:xfrm>
            <a:off x="914400" y="4343400"/>
            <a:ext cx="4663440" cy="731520"/>
          </a:xfrm>
          <a:prstGeom prst="rect">
            <a:avLst/>
          </a:prstGeom>
          <a:noFill/>
          <a:ln/>
        </p:spPr>
        <p:txBody>
          <a:bodyPr wrap="square" lIns="0" tIns="0" rIns="0" bIns="0" rtlCol="0" anchor="t"/>
          <a:lstStyle/>
          <a:p>
            <a:pPr indent="0" marL="0">
              <a:buNone/>
            </a:pPr>
            <a:r>
              <a:rPr lang="en-US" sz="1800" dirty="0">
                <a:solidFill>
                  <a:schemeClr val="bg1"/>
                </a:solidFill>
              </a:rPr>
              <a:t>Where on the product do defects occur most often?</a:t>
            </a:r>
            <a:endParaRPr lang="en-US" sz="1800" dirty="0"/>
          </a:p>
        </p:txBody>
      </p:sp>
      <p:sp>
        <p:nvSpPr>
          <p:cNvPr id="13" name="Question 4 card"/>
          <p:cNvSpPr/>
          <p:nvPr/>
        </p:nvSpPr>
        <p:spPr>
          <a:xfrm>
            <a:off x="6245352" y="3657600"/>
            <a:ext cx="5367528" cy="1554480"/>
          </a:xfrm>
          <a:prstGeom prst="roundRect">
            <a:avLst>
              <a:gd name="adj" fmla="val 5882"/>
            </a:avLst>
          </a:prstGeom>
          <a:solidFill>
            <a:schemeClr val="accent3"/>
          </a:solidFill>
          <a:ln/>
          <a:effectLst>
            <a:outerShdw sx="100000" sy="100000" kx="0" ky="0" algn="bl" rotWithShape="0" blurRad="101600" dist="25400" dir="5400000">
              <a:srgbClr val="14183A">
                <a:alpha val="12000"/>
              </a:srgbClr>
            </a:outerShdw>
          </a:effectLst>
        </p:spPr>
      </p:sp>
      <p:sp>
        <p:nvSpPr>
          <p:cNvPr id="14" name="Question 4 number"/>
          <p:cNvSpPr txBox="1"/>
          <p:nvPr/>
        </p:nvSpPr>
        <p:spPr>
          <a:xfrm>
            <a:off x="6611112" y="3931920"/>
            <a:ext cx="914400" cy="320040"/>
          </a:xfrm>
          <a:prstGeom prst="rect">
            <a:avLst/>
          </a:prstGeom>
          <a:noFill/>
          <a:ln/>
        </p:spPr>
        <p:txBody>
          <a:bodyPr wrap="square" lIns="0" tIns="0" rIns="0" bIns="0" rtlCol="0" anchor="t"/>
          <a:lstStyle/>
          <a:p>
            <a:pPr indent="0" marL="0">
              <a:buNone/>
            </a:pPr>
            <a:r>
              <a:rPr lang="en-US" sz="1400" b="1" dirty="0">
                <a:solidFill>
                  <a:schemeClr val="accent5"/>
                </a:solidFill>
              </a:rPr>
              <a:t>04</a:t>
            </a:r>
            <a:endParaRPr lang="en-US" sz="1400" dirty="0"/>
          </a:p>
        </p:txBody>
      </p:sp>
      <p:sp>
        <p:nvSpPr>
          <p:cNvPr id="15" name="Question 4 text"/>
          <p:cNvSpPr txBox="1"/>
          <p:nvPr/>
        </p:nvSpPr>
        <p:spPr>
          <a:xfrm>
            <a:off x="6611112" y="4343400"/>
            <a:ext cx="4663440" cy="731520"/>
          </a:xfrm>
          <a:prstGeom prst="rect">
            <a:avLst/>
          </a:prstGeom>
          <a:noFill/>
          <a:ln/>
        </p:spPr>
        <p:txBody>
          <a:bodyPr wrap="square" lIns="0" tIns="0" rIns="0" bIns="0" rtlCol="0" anchor="t"/>
          <a:lstStyle/>
          <a:p>
            <a:pPr indent="0" marL="0">
              <a:buNone/>
            </a:pPr>
            <a:r>
              <a:rPr lang="en-US" sz="1800" dirty="0">
                <a:solidFill>
                  <a:schemeClr val="bg1"/>
                </a:solidFill>
              </a:rPr>
              <a:t>Which inspection method is catching the defects?</a:t>
            </a:r>
            <a:endParaRPr lang="en-US" sz="18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txBox="1"/>
          <p:nvPr>
            <p:ph idx="102" type="body" hasCustomPrompt="1"/>
          </p:nvPr>
        </p:nvSpPr>
        <p:spPr>
          <a:xfrm>
            <a:off x="548640" y="457200"/>
            <a:ext cx="54864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NEXT STEPS</a:t>
            </a:r>
            <a:endParaRPr lang="en-US" sz="1100" dirty="0"/>
          </a:p>
        </p:txBody>
      </p:sp>
      <p:sp>
        <p:nvSpPr>
          <p:cNvPr id="3" name="Text 1"/>
          <p:cNvSpPr/>
          <p:nvPr>
            <p:ph idx="103" type="title" hasCustomPrompt="1"/>
          </p:nvPr>
        </p:nvSpPr>
        <p:spPr>
          <a:xfrm>
            <a:off x="548640" y="777240"/>
            <a:ext cx="9509760" cy="777240"/>
          </a:xfrm>
          <a:prstGeom prst="rect">
            <a:avLst/>
          </a:prstGeom>
          <a:noFill/>
          <a:ln/>
        </p:spPr>
        <p:txBody>
          <a:bodyPr wrap="square" lIns="0" tIns="0" rIns="0" bIns="0" rtlCol="0" anchor="t"/>
          <a:lstStyle/>
          <a:p>
            <a:pPr algn="l" indent="0" marL="0">
              <a:buNone/>
            </a:pPr>
            <a:r>
              <a:rPr lang="en-US" sz="3400" b="1" dirty="0">
                <a:solidFill>
                  <a:schemeClr val="tx2"/>
                </a:solidFill>
              </a:rPr>
              <a:t>Ideas to take it further</a:t>
            </a:r>
            <a:endParaRPr lang="en-US" sz="3400" dirty="0"/>
          </a:p>
        </p:txBody>
      </p:sp>
      <p:sp>
        <p:nvSpPr>
          <p:cNvPr id="4" name="Use a true count card"/>
          <p:cNvSpPr/>
          <p:nvPr/>
        </p:nvSpPr>
        <p:spPr>
          <a:xfrm>
            <a:off x="548640" y="1783080"/>
            <a:ext cx="3474720" cy="3383280"/>
          </a:xfrm>
          <a:prstGeom prst="roundRect">
            <a:avLst>
              <a:gd name="adj" fmla="val 2703"/>
            </a:avLst>
          </a:prstGeom>
          <a:solidFill>
            <a:schemeClr val="accent1"/>
          </a:solidFill>
          <a:ln/>
          <a:effectLst>
            <a:outerShdw sx="100000" sy="100000" kx="0" ky="0" algn="bl" rotWithShape="0" blurRad="101600" dist="25400" dir="5400000">
              <a:srgbClr val="14183A">
                <a:alpha val="12000"/>
              </a:srgbClr>
            </a:outerShdw>
          </a:effectLst>
        </p:spPr>
      </p:sp>
      <p:sp>
        <p:nvSpPr>
          <p:cNvPr id="5" name="Use a true count icon circle"/>
          <p:cNvSpPr/>
          <p:nvPr/>
        </p:nvSpPr>
        <p:spPr>
          <a:xfrm>
            <a:off x="868680" y="2103120"/>
            <a:ext cx="731520" cy="731520"/>
          </a:xfrm>
          <a:prstGeom prst="ellipse">
            <a:avLst/>
          </a:prstGeom>
          <a:solidFill>
            <a:schemeClr val="accent2"/>
          </a:solidFill>
          <a:ln/>
        </p:spPr>
      </p:sp>
      <p:pic>
        <p:nvPicPr>
          <p:cNvPr id="6" name="Use a true count icon" descr="Use a true count icon">    </p:cNvPr>
          <p:cNvPicPr>
            <a:picLocks noChangeAspect="1"/>
          </p:cNvPicPr>
          <p:nvPr/>
        </p:nvPicPr>
        <p:blipFill>
          <a:blip r:embed="rId1"/>
          <a:stretch>
            <a:fillRect/>
          </a:stretch>
        </p:blipFill>
        <p:spPr>
          <a:xfrm>
            <a:off x="1073506" y="2307946"/>
            <a:ext cx="321869" cy="321869"/>
          </a:xfrm>
          <a:prstGeom prst="rect">
            <a:avLst/>
          </a:prstGeom>
        </p:spPr>
      </p:pic>
      <p:sp>
        <p:nvSpPr>
          <p:cNvPr id="7" name="Use a true count heading"/>
          <p:cNvSpPr txBox="1"/>
          <p:nvPr/>
        </p:nvSpPr>
        <p:spPr>
          <a:xfrm>
            <a:off x="868680" y="3063240"/>
            <a:ext cx="2834640" cy="411480"/>
          </a:xfrm>
          <a:prstGeom prst="rect">
            <a:avLst/>
          </a:prstGeom>
          <a:noFill/>
          <a:ln/>
        </p:spPr>
        <p:txBody>
          <a:bodyPr wrap="square" lIns="0" tIns="0" rIns="0" bIns="0" rtlCol="0" anchor="t"/>
          <a:lstStyle/>
          <a:p>
            <a:pPr indent="0" marL="0">
              <a:buNone/>
            </a:pPr>
            <a:r>
              <a:rPr lang="en-US" sz="2000" b="1" dirty="0">
                <a:solidFill>
                  <a:schemeClr val="bg1"/>
                </a:solidFill>
              </a:rPr>
              <a:t>Use a true count</a:t>
            </a:r>
            <a:endParaRPr lang="en-US" sz="2000" dirty="0"/>
          </a:p>
        </p:txBody>
      </p:sp>
      <p:sp>
        <p:nvSpPr>
          <p:cNvPr id="8" name="Use a true count text"/>
          <p:cNvSpPr txBox="1"/>
          <p:nvPr/>
        </p:nvSpPr>
        <p:spPr>
          <a:xfrm>
            <a:off x="868680" y="3611880"/>
            <a:ext cx="2834640" cy="1463040"/>
          </a:xfrm>
          <a:prstGeom prst="rect">
            <a:avLst/>
          </a:prstGeom>
          <a:noFill/>
          <a:ln/>
        </p:spPr>
        <p:txBody>
          <a:bodyPr wrap="square" lIns="0" tIns="0" rIns="0" bIns="0" rtlCol="0" anchor="t"/>
          <a:lstStyle/>
          <a:p>
            <a:pPr indent="0" marL="0">
              <a:buNone/>
            </a:pPr>
            <a:r>
              <a:rPr lang="en-US" sz="1400" dirty="0">
                <a:solidFill>
                  <a:schemeClr val="bg1"/>
                </a:solidFill>
              </a:rPr>
              <a:t>Total Defects and all four charts add up defect_id, which sums ID numbers instead of counting records. Switching to a Count of defect_id gives the real number of defects.</a:t>
            </a:r>
            <a:endParaRPr lang="en-US" sz="1400" dirty="0"/>
          </a:p>
        </p:txBody>
      </p:sp>
      <p:sp>
        <p:nvSpPr>
          <p:cNvPr id="9" name="Show cost by cause card"/>
          <p:cNvSpPr/>
          <p:nvPr/>
        </p:nvSpPr>
        <p:spPr>
          <a:xfrm>
            <a:off x="4297680" y="1783080"/>
            <a:ext cx="3474720" cy="3383280"/>
          </a:xfrm>
          <a:prstGeom prst="roundRect">
            <a:avLst>
              <a:gd name="adj" fmla="val 2703"/>
            </a:avLst>
          </a:prstGeom>
          <a:solidFill>
            <a:schemeClr val="bg1"/>
          </a:solidFill>
          <a:ln/>
          <a:effectLst>
            <a:outerShdw sx="100000" sy="100000" kx="0" ky="0" algn="bl" rotWithShape="0" blurRad="101600" dist="25400" dir="5400000">
              <a:srgbClr val="14183A">
                <a:alpha val="12000"/>
              </a:srgbClr>
            </a:outerShdw>
          </a:effectLst>
        </p:spPr>
      </p:sp>
      <p:sp>
        <p:nvSpPr>
          <p:cNvPr id="10" name="Show cost by cause icon circle"/>
          <p:cNvSpPr/>
          <p:nvPr/>
        </p:nvSpPr>
        <p:spPr>
          <a:xfrm>
            <a:off x="4617720" y="2103120"/>
            <a:ext cx="731520" cy="731520"/>
          </a:xfrm>
          <a:prstGeom prst="ellipse">
            <a:avLst/>
          </a:prstGeom>
          <a:solidFill>
            <a:schemeClr val="accent1"/>
          </a:solidFill>
          <a:ln/>
        </p:spPr>
      </p:sp>
      <p:pic>
        <p:nvPicPr>
          <p:cNvPr id="11" name="Show cost by cause icon" descr="Show cost by cause icon">    </p:cNvPr>
          <p:cNvPicPr>
            <a:picLocks noChangeAspect="1"/>
          </p:cNvPicPr>
          <p:nvPr/>
        </p:nvPicPr>
        <p:blipFill>
          <a:blip r:embed="rId2"/>
          <a:stretch>
            <a:fillRect/>
          </a:stretch>
        </p:blipFill>
        <p:spPr>
          <a:xfrm>
            <a:off x="4822546" y="2307946"/>
            <a:ext cx="321869" cy="321869"/>
          </a:xfrm>
          <a:prstGeom prst="rect">
            <a:avLst/>
          </a:prstGeom>
        </p:spPr>
      </p:pic>
      <p:sp>
        <p:nvSpPr>
          <p:cNvPr id="12" name="Show cost by cause heading"/>
          <p:cNvSpPr txBox="1"/>
          <p:nvPr/>
        </p:nvSpPr>
        <p:spPr>
          <a:xfrm>
            <a:off x="4617720" y="3063240"/>
            <a:ext cx="2834640" cy="411480"/>
          </a:xfrm>
          <a:prstGeom prst="rect">
            <a:avLst/>
          </a:prstGeom>
          <a:noFill/>
          <a:ln/>
        </p:spPr>
        <p:txBody>
          <a:bodyPr wrap="square" lIns="0" tIns="0" rIns="0" bIns="0" rtlCol="0" anchor="t"/>
          <a:lstStyle/>
          <a:p>
            <a:pPr indent="0" marL="0">
              <a:buNone/>
            </a:pPr>
            <a:r>
              <a:rPr lang="en-US" sz="2000" b="1" dirty="0">
                <a:solidFill>
                  <a:schemeClr val="tx2"/>
                </a:solidFill>
              </a:rPr>
              <a:t>Show cost by cause</a:t>
            </a:r>
            <a:endParaRPr lang="en-US" sz="2000" dirty="0"/>
          </a:p>
        </p:txBody>
      </p:sp>
      <p:sp>
        <p:nvSpPr>
          <p:cNvPr id="13" name="Show cost by cause text"/>
          <p:cNvSpPr txBox="1"/>
          <p:nvPr/>
        </p:nvSpPr>
        <p:spPr>
          <a:xfrm>
            <a:off x="4617720" y="3611880"/>
            <a:ext cx="2834640" cy="1463040"/>
          </a:xfrm>
          <a:prstGeom prst="rect">
            <a:avLst/>
          </a:prstGeom>
          <a:noFill/>
          <a:ln/>
        </p:spPr>
        <p:txBody>
          <a:bodyPr wrap="square" lIns="0" tIns="0" rIns="0" bIns="0" rtlCol="0" anchor="t"/>
          <a:lstStyle/>
          <a:p>
            <a:pPr indent="0" marL="0">
              <a:buNone/>
            </a:pPr>
            <a:r>
              <a:rPr lang="en-US" sz="1400" dirty="0">
                <a:solidFill>
                  <a:schemeClr val="tx1"/>
                </a:solidFill>
              </a:rPr>
              <a:t>Add repair cost by defect type or severity to find the problems that cost the most to fix.</a:t>
            </a:r>
            <a:endParaRPr lang="en-US" sz="1400" dirty="0"/>
          </a:p>
        </p:txBody>
      </p:sp>
      <p:sp>
        <p:nvSpPr>
          <p:cNvPr id="14" name="Add a time trend card"/>
          <p:cNvSpPr/>
          <p:nvPr/>
        </p:nvSpPr>
        <p:spPr>
          <a:xfrm>
            <a:off x="8046720" y="1783080"/>
            <a:ext cx="3474720" cy="3383280"/>
          </a:xfrm>
          <a:prstGeom prst="roundRect">
            <a:avLst>
              <a:gd name="adj" fmla="val 2703"/>
            </a:avLst>
          </a:prstGeom>
          <a:solidFill>
            <a:schemeClr val="bg1"/>
          </a:solidFill>
          <a:ln/>
          <a:effectLst>
            <a:outerShdw sx="100000" sy="100000" kx="0" ky="0" algn="bl" rotWithShape="0" blurRad="101600" dist="25400" dir="5400000">
              <a:srgbClr val="14183A">
                <a:alpha val="12000"/>
              </a:srgbClr>
            </a:outerShdw>
          </a:effectLst>
        </p:spPr>
      </p:sp>
      <p:sp>
        <p:nvSpPr>
          <p:cNvPr id="15" name="Add a time trend icon circle"/>
          <p:cNvSpPr/>
          <p:nvPr/>
        </p:nvSpPr>
        <p:spPr>
          <a:xfrm>
            <a:off x="8366760" y="2103120"/>
            <a:ext cx="731520" cy="731520"/>
          </a:xfrm>
          <a:prstGeom prst="ellipse">
            <a:avLst/>
          </a:prstGeom>
          <a:solidFill>
            <a:schemeClr val="accent1"/>
          </a:solidFill>
          <a:ln/>
        </p:spPr>
      </p:sp>
      <p:pic>
        <p:nvPicPr>
          <p:cNvPr id="16" name="Add a time trend icon" descr="Add a time trend icon">    </p:cNvPr>
          <p:cNvPicPr>
            <a:picLocks noChangeAspect="1"/>
          </p:cNvPicPr>
          <p:nvPr/>
        </p:nvPicPr>
        <p:blipFill>
          <a:blip r:embed="rId3"/>
          <a:stretch>
            <a:fillRect/>
          </a:stretch>
        </p:blipFill>
        <p:spPr>
          <a:xfrm>
            <a:off x="8571586" y="2307946"/>
            <a:ext cx="321869" cy="321869"/>
          </a:xfrm>
          <a:prstGeom prst="rect">
            <a:avLst/>
          </a:prstGeom>
        </p:spPr>
      </p:pic>
      <p:sp>
        <p:nvSpPr>
          <p:cNvPr id="17" name="Add a time trend heading"/>
          <p:cNvSpPr txBox="1"/>
          <p:nvPr/>
        </p:nvSpPr>
        <p:spPr>
          <a:xfrm>
            <a:off x="8366760" y="3063240"/>
            <a:ext cx="2834640" cy="411480"/>
          </a:xfrm>
          <a:prstGeom prst="rect">
            <a:avLst/>
          </a:prstGeom>
          <a:noFill/>
          <a:ln/>
        </p:spPr>
        <p:txBody>
          <a:bodyPr wrap="square" lIns="0" tIns="0" rIns="0" bIns="0" rtlCol="0" anchor="t"/>
          <a:lstStyle/>
          <a:p>
            <a:pPr indent="0" marL="0">
              <a:buNone/>
            </a:pPr>
            <a:r>
              <a:rPr lang="en-US" sz="2000" b="1" dirty="0">
                <a:solidFill>
                  <a:schemeClr val="tx2"/>
                </a:solidFill>
              </a:rPr>
              <a:t>Add a time trend</a:t>
            </a:r>
            <a:endParaRPr lang="en-US" sz="2000" dirty="0"/>
          </a:p>
        </p:txBody>
      </p:sp>
      <p:sp>
        <p:nvSpPr>
          <p:cNvPr id="18" name="Add a time trend text"/>
          <p:cNvSpPr txBox="1"/>
          <p:nvPr/>
        </p:nvSpPr>
        <p:spPr>
          <a:xfrm>
            <a:off x="8366760" y="3611880"/>
            <a:ext cx="2834640" cy="1463040"/>
          </a:xfrm>
          <a:prstGeom prst="rect">
            <a:avLst/>
          </a:prstGeom>
          <a:noFill/>
          <a:ln/>
        </p:spPr>
        <p:txBody>
          <a:bodyPr wrap="square" lIns="0" tIns="0" rIns="0" bIns="0" rtlCol="0" anchor="t"/>
          <a:lstStyle/>
          <a:p>
            <a:pPr indent="0" marL="0">
              <a:buNone/>
            </a:pPr>
            <a:r>
              <a:rPr lang="en-US" sz="1400" dirty="0">
                <a:solidFill>
                  <a:schemeClr val="tx1"/>
                </a:solidFill>
              </a:rPr>
              <a:t>If the data has a date, a line chart would show whether defects are rising or falling.</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731520" y="2103120"/>
            <a:ext cx="7315200" cy="914400"/>
          </a:xfrm>
          <a:prstGeom prst="rect">
            <a:avLst/>
          </a:prstGeom>
          <a:noFill/>
          <a:ln/>
        </p:spPr>
        <p:txBody>
          <a:bodyPr wrap="square" lIns="0" tIns="0" rIns="0" bIns="0" rtlCol="0" anchor="t"/>
          <a:lstStyle/>
          <a:p>
            <a:pPr algn="l" indent="0" marL="0">
              <a:buNone/>
            </a:pPr>
            <a:r>
              <a:rPr lang="en-US" sz="4400" b="1" dirty="0">
                <a:solidFill>
                  <a:schemeClr val="tx2"/>
                </a:solidFill>
              </a:rPr>
              <a:t>Thank you</a:t>
            </a:r>
            <a:endParaRPr lang="en-US" sz="4400" dirty="0"/>
          </a:p>
        </p:txBody>
      </p:sp>
      <p:sp>
        <p:nvSpPr>
          <p:cNvPr id="3" name="Invite"/>
          <p:cNvSpPr txBox="1"/>
          <p:nvPr/>
        </p:nvSpPr>
        <p:spPr>
          <a:xfrm>
            <a:off x="731520" y="3108960"/>
            <a:ext cx="5486400" cy="365760"/>
          </a:xfrm>
          <a:prstGeom prst="rect">
            <a:avLst/>
          </a:prstGeom>
          <a:noFill/>
          <a:ln/>
        </p:spPr>
        <p:txBody>
          <a:bodyPr wrap="square" lIns="0" tIns="0" rIns="0" bIns="0" rtlCol="0" anchor="t"/>
          <a:lstStyle/>
          <a:p>
            <a:pPr indent="0" marL="0">
              <a:buNone/>
            </a:pPr>
            <a:r>
              <a:rPr lang="en-US" sz="1800" dirty="0">
                <a:solidFill>
                  <a:schemeClr val="accent4"/>
                </a:solidFill>
              </a:rPr>
              <a:t>Questions are welcome.</a:t>
            </a:r>
            <a:endParaRPr lang="en-US" sz="1800" dirty="0"/>
          </a:p>
        </p:txBody>
      </p:sp>
      <p:sp>
        <p:nvSpPr>
          <p:cNvPr id="4" name="Presenter"/>
          <p:cNvSpPr txBox="1"/>
          <p:nvPr/>
        </p:nvSpPr>
        <p:spPr>
          <a:xfrm>
            <a:off x="731520" y="3931920"/>
            <a:ext cx="5486400" cy="411480"/>
          </a:xfrm>
          <a:prstGeom prst="rect">
            <a:avLst/>
          </a:prstGeom>
          <a:noFill/>
          <a:ln/>
        </p:spPr>
        <p:txBody>
          <a:bodyPr wrap="square" lIns="0" tIns="0" rIns="0" bIns="0" rtlCol="0" anchor="t"/>
          <a:lstStyle/>
          <a:p>
            <a:pPr indent="0" marL="0">
              <a:buNone/>
            </a:pPr>
            <a:r>
              <a:rPr lang="en-US" sz="2200" b="1" dirty="0">
                <a:solidFill>
                  <a:schemeClr val="tx2"/>
                </a:solidFill>
              </a:rPr>
              <a:t>Astala Kumari Nayak</a:t>
            </a:r>
            <a:endParaRPr lang="en-US" sz="2200" dirty="0"/>
          </a:p>
        </p:txBody>
      </p:sp>
      <p:sp>
        <p:nvSpPr>
          <p:cNvPr id="5" name="Trainer"/>
          <p:cNvSpPr txBox="1"/>
          <p:nvPr/>
        </p:nvSpPr>
        <p:spPr>
          <a:xfrm>
            <a:off x="731520" y="4389120"/>
            <a:ext cx="5486400" cy="320040"/>
          </a:xfrm>
          <a:prstGeom prst="rect">
            <a:avLst/>
          </a:prstGeom>
          <a:noFill/>
          <a:ln/>
        </p:spPr>
        <p:txBody>
          <a:bodyPr wrap="square" lIns="0" tIns="0" rIns="0" bIns="0" rtlCol="0" anchor="t"/>
          <a:lstStyle/>
          <a:p>
            <a:pPr indent="0" marL="0">
              <a:buNone/>
            </a:pPr>
            <a:r>
              <a:rPr lang="en-US" sz="1400" dirty="0">
                <a:solidFill>
                  <a:schemeClr val="accent4"/>
                </a:solidFill>
              </a:rPr>
              <a:t>Trainer: Mr. Dinesh Chilka</a:t>
            </a:r>
            <a:endParaRPr lang="en-US" sz="1400" dirty="0"/>
          </a:p>
        </p:txBody>
      </p:sp>
    </p:spTree>
  </p:cSld>
  <p:clrMapOvr>
    <a:masterClrMapping/>
  </p:clrMapOvr>
</p:sld>
</file>

<file path=ppt/theme/theme1.xml><?xml version="1.0" encoding="utf-8"?>
<a:theme xmlns:a="http://schemas.openxmlformats.org/drawingml/2006/main" name="Defect Analysis">
  <a:themeElements>
    <a:clrScheme name="Defect Analysis">
      <a:dk1>
        <a:srgbClr val="14183A"/>
      </a:dk1>
      <a:lt1>
        <a:srgbClr val="FFFFFF"/>
      </a:lt1>
      <a:dk2>
        <a:srgbClr val="0E1A77"/>
      </a:dk2>
      <a:lt2>
        <a:srgbClr val="F5F4F1"/>
      </a:lt2>
      <a:accent1>
        <a:srgbClr val="0E1A77"/>
      </a:accent1>
      <a:accent2>
        <a:srgbClr val="D9141B"/>
      </a:accent2>
      <a:accent3>
        <a:srgbClr val="1B2A9B"/>
      </a:accent3>
      <a:accent4>
        <a:srgbClr val="4A4F6B"/>
      </a:accent4>
      <a:accent5>
        <a:srgbClr val="C9CDEB"/>
      </a:accent5>
      <a:accent6>
        <a:srgbClr val="E4E6F5"/>
      </a:accent6>
      <a:hlink>
        <a:srgbClr val="0E1A77"/>
      </a:hlink>
      <a:folHlink>
        <a:srgbClr val="4A4F6B"/>
      </a:folHlink>
    </a:clrScheme>
    <a:fontScheme name="Defect Analys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Defect Analysis Dashboard</dc:title>
  <dc:subject>PptxGenJS Presentation</dc:subject>
  <dc:creator>Astala Kumari Nayak</dc:creator>
  <cp:lastModifiedBy>Astala Kumari Nayak</cp:lastModifiedBy>
  <cp:revision>1</cp:revision>
  <dcterms:created xsi:type="dcterms:W3CDTF">2026-10-30T13:04:16Z</dcterms:created>
  <dcterms:modified xsi:type="dcterms:W3CDTF">2026-10-30T13:04:16Z</dcterms:modified>
</cp:coreProperties>
</file>